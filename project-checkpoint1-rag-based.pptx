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aleway-regular.fntdata"/><Relationship Id="rId25" Type="http://schemas.openxmlformats.org/officeDocument/2006/relationships/slide" Target="slides/slide19.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aleway-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5.xml"/><Relationship Id="rId33" Type="http://schemas.openxmlformats.org/officeDocument/2006/relationships/font" Target="fonts/Lato-boldItalic.fntdata"/><Relationship Id="rId10" Type="http://schemas.openxmlformats.org/officeDocument/2006/relationships/slide" Target="slides/slide4.xml"/><Relationship Id="rId32" Type="http://schemas.openxmlformats.org/officeDocument/2006/relationships/font" Target="fonts/Lato-italic.fntdata"/><Relationship Id="rId13" Type="http://schemas.openxmlformats.org/officeDocument/2006/relationships/slide" Target="slides/slide7.xml"/><Relationship Id="rId35" Type="http://schemas.openxmlformats.org/officeDocument/2006/relationships/font" Target="fonts/RobotoMono-bold.fntdata"/><Relationship Id="rId12" Type="http://schemas.openxmlformats.org/officeDocument/2006/relationships/slide" Target="slides/slide6.xml"/><Relationship Id="rId34" Type="http://schemas.openxmlformats.org/officeDocument/2006/relationships/font" Target="fonts/RobotoMono-regular.fntdata"/><Relationship Id="rId15" Type="http://schemas.openxmlformats.org/officeDocument/2006/relationships/slide" Target="slides/slide9.xml"/><Relationship Id="rId37" Type="http://schemas.openxmlformats.org/officeDocument/2006/relationships/font" Target="fonts/RobotoMono-boldItalic.fntdata"/><Relationship Id="rId14" Type="http://schemas.openxmlformats.org/officeDocument/2006/relationships/slide" Target="slides/slide8.xml"/><Relationship Id="rId36" Type="http://schemas.openxmlformats.org/officeDocument/2006/relationships/font" Target="fonts/RobotoMon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eea403385_1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8eea403385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8eea403385_1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8eea403385_1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8ee125387a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8ee125387a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ee125387a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8ee125387a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8eea403385_1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8eea403385_1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eea403385_1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8eea403385_1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8ee125387a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8ee125387a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eea403385_1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8eea403385_1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8eea403385_1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8eea403385_1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eea403385_1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eea403385_1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eea403385_1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eea403385_1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
          <p:cNvGrpSpPr/>
          <p:nvPr/>
        </p:nvGrpSpPr>
        <p:grpSpPr>
          <a:xfrm>
            <a:off x="830392" y="1191256"/>
            <a:ext cx="745763" cy="45826"/>
            <a:chOff x="4580561" y="2589004"/>
            <a:chExt cx="1064464" cy="25200"/>
          </a:xfrm>
        </p:grpSpPr>
        <p:sp>
          <p:nvSpPr>
            <p:cNvPr id="27" name="Google Shape;27;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11"/>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CSE572-Project/reviews-rag-based-project" TargetMode="External"/><Relationship Id="rId4" Type="http://schemas.openxmlformats.org/officeDocument/2006/relationships/hyperlink" Target="https://github.com/CSE572-Project/reviews-rag-based-projec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kaggle.com/datasets/kritanjalijain/amazon-review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7950" y="1331825"/>
            <a:ext cx="7688100" cy="1287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3333"/>
              <a:buNone/>
            </a:pPr>
            <a:r>
              <a:rPr lang="en"/>
              <a:t>Data Mining - Checkpoint 1</a:t>
            </a:r>
            <a:br>
              <a:rPr lang="en"/>
            </a:br>
            <a:r>
              <a:rPr lang="en">
                <a:solidFill>
                  <a:schemeClr val="dk1"/>
                </a:solidFill>
              </a:rPr>
              <a:t>RAG Based Applications</a:t>
            </a:r>
            <a:endParaRPr b="0" sz="3150">
              <a:solidFill>
                <a:srgbClr val="273540"/>
              </a:solidFill>
              <a:highlight>
                <a:srgbClr val="EFEFEF"/>
              </a:highlight>
              <a:latin typeface="Lato"/>
              <a:ea typeface="Lato"/>
              <a:cs typeface="Lato"/>
              <a:sym typeface="Lato"/>
            </a:endParaRPr>
          </a:p>
          <a:p>
            <a:pPr indent="0" lvl="0" marL="0" rtl="0" algn="l">
              <a:lnSpc>
                <a:spcPct val="100000"/>
              </a:lnSpc>
              <a:spcBef>
                <a:spcPts val="0"/>
              </a:spcBef>
              <a:spcAft>
                <a:spcPts val="0"/>
              </a:spcAft>
              <a:buSzPct val="100000"/>
              <a:buNone/>
            </a:pPr>
            <a:r>
              <a:t/>
            </a:r>
            <a:endParaRPr>
              <a:solidFill>
                <a:schemeClr val="dk1"/>
              </a:solidFill>
            </a:endParaRPr>
          </a:p>
        </p:txBody>
      </p:sp>
      <p:sp>
        <p:nvSpPr>
          <p:cNvPr id="164" name="Google Shape;164;p25"/>
          <p:cNvSpPr txBox="1"/>
          <p:nvPr>
            <p:ph idx="1" type="subTitle"/>
          </p:nvPr>
        </p:nvSpPr>
        <p:spPr>
          <a:xfrm>
            <a:off x="727950" y="2759100"/>
            <a:ext cx="7688100" cy="223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500">
                <a:latin typeface="Arial"/>
                <a:ea typeface="Arial"/>
                <a:cs typeface="Arial"/>
                <a:sym typeface="Arial"/>
              </a:rPr>
              <a:t>Goal: </a:t>
            </a:r>
            <a:r>
              <a:rPr lang="en" sz="1500">
                <a:latin typeface="Arial"/>
                <a:ea typeface="Arial"/>
                <a:cs typeface="Arial"/>
                <a:sym typeface="Arial"/>
              </a:rPr>
              <a:t>Recap the pitch, show EDA, preliminary pipeline, results and outline next steps.</a:t>
            </a:r>
            <a:endParaRPr sz="1500">
              <a:latin typeface="Arial"/>
              <a:ea typeface="Arial"/>
              <a:cs typeface="Arial"/>
              <a:sym typeface="Arial"/>
            </a:endParaRPr>
          </a:p>
          <a:p>
            <a:pPr indent="0" lvl="0" marL="0" rtl="0" algn="ctr">
              <a:lnSpc>
                <a:spcPct val="100000"/>
              </a:lnSpc>
              <a:spcBef>
                <a:spcPts val="0"/>
              </a:spcBef>
              <a:spcAft>
                <a:spcPts val="0"/>
              </a:spcAft>
              <a:buNone/>
            </a:pPr>
            <a:r>
              <a:rPr lang="en" sz="1500" u="sng">
                <a:solidFill>
                  <a:schemeClr val="dk1"/>
                </a:solidFill>
                <a:latin typeface="Arial"/>
                <a:ea typeface="Arial"/>
                <a:cs typeface="Arial"/>
                <a:sym typeface="Arial"/>
                <a:hlinkClick r:id="rId3">
                  <a:extLst>
                    <a:ext uri="{A12FA001-AC4F-418D-AE19-62706E023703}">
                      <ahyp:hlinkClr val="tx"/>
                    </a:ext>
                  </a:extLst>
                </a:hlinkClick>
              </a:rPr>
              <a:t>(source code </a:t>
            </a:r>
            <a:r>
              <a:rPr lang="en" sz="1500" u="sng">
                <a:solidFill>
                  <a:schemeClr val="dk1"/>
                </a:solidFill>
                <a:latin typeface="Arial"/>
                <a:ea typeface="Arial"/>
                <a:cs typeface="Arial"/>
                <a:sym typeface="Arial"/>
                <a:hlinkClick r:id="rId4">
                  <a:extLst>
                    <a:ext uri="{A12FA001-AC4F-418D-AE19-62706E023703}">
                      <ahyp:hlinkClr val="tx"/>
                    </a:ext>
                  </a:extLst>
                </a:hlinkClick>
              </a:rPr>
              <a:t>→)</a:t>
            </a:r>
            <a:endParaRPr sz="1500" u="sng">
              <a:solidFill>
                <a:schemeClr val="dk1"/>
              </a:solidFill>
              <a:latin typeface="Arial"/>
              <a:ea typeface="Arial"/>
              <a:cs typeface="Arial"/>
              <a:sym typeface="Arial"/>
            </a:endParaRPr>
          </a:p>
          <a:p>
            <a:pPr indent="0" lvl="0" marL="0" rtl="0" algn="l">
              <a:lnSpc>
                <a:spcPct val="100000"/>
              </a:lnSpc>
              <a:spcBef>
                <a:spcPts val="0"/>
              </a:spcBef>
              <a:spcAft>
                <a:spcPts val="0"/>
              </a:spcAft>
              <a:buNone/>
            </a:pPr>
            <a:r>
              <a:t/>
            </a:r>
            <a:endParaRPr sz="1500">
              <a:latin typeface="Arial"/>
              <a:ea typeface="Arial"/>
              <a:cs typeface="Arial"/>
              <a:sym typeface="Arial"/>
            </a:endParaRPr>
          </a:p>
          <a:p>
            <a:pPr indent="-323850" lvl="0" marL="457200" rtl="0" algn="ctr">
              <a:lnSpc>
                <a:spcPct val="100000"/>
              </a:lnSpc>
              <a:spcBef>
                <a:spcPts val="0"/>
              </a:spcBef>
              <a:spcAft>
                <a:spcPts val="0"/>
              </a:spcAft>
              <a:buSzPts val="1500"/>
              <a:buFont typeface="Arial"/>
              <a:buChar char="-"/>
            </a:pPr>
            <a:r>
              <a:rPr b="1" lang="en" sz="1500">
                <a:latin typeface="Arial"/>
                <a:ea typeface="Arial"/>
                <a:cs typeface="Arial"/>
                <a:sym typeface="Arial"/>
              </a:rPr>
              <a:t>Roopa Batavadi Shivakumar (1236446967)</a:t>
            </a:r>
            <a:endParaRPr b="1" sz="1500">
              <a:latin typeface="Arial"/>
              <a:ea typeface="Arial"/>
              <a:cs typeface="Arial"/>
              <a:sym typeface="Arial"/>
            </a:endParaRPr>
          </a:p>
          <a:p>
            <a:pPr indent="-323850" lvl="0" marL="457200" rtl="0" algn="ctr">
              <a:lnSpc>
                <a:spcPct val="100000"/>
              </a:lnSpc>
              <a:spcBef>
                <a:spcPts val="0"/>
              </a:spcBef>
              <a:spcAft>
                <a:spcPts val="0"/>
              </a:spcAft>
              <a:buSzPts val="1500"/>
              <a:buFont typeface="Arial"/>
              <a:buChar char="-"/>
            </a:pPr>
            <a:r>
              <a:rPr b="1" lang="en" sz="1500">
                <a:latin typeface="Arial"/>
                <a:ea typeface="Arial"/>
                <a:cs typeface="Arial"/>
                <a:sym typeface="Arial"/>
              </a:rPr>
              <a:t>Aditya Rallapalli (1236173642)</a:t>
            </a:r>
            <a:endParaRPr b="1" sz="15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727650" y="610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Background (What is RAG?)</a:t>
            </a:r>
            <a:endParaRPr>
              <a:solidFill>
                <a:schemeClr val="dk1"/>
              </a:solidFill>
            </a:endParaRPr>
          </a:p>
        </p:txBody>
      </p:sp>
      <p:sp>
        <p:nvSpPr>
          <p:cNvPr id="170" name="Google Shape;170;p26"/>
          <p:cNvSpPr txBox="1"/>
          <p:nvPr>
            <p:ph idx="1" type="body"/>
          </p:nvPr>
        </p:nvSpPr>
        <p:spPr>
          <a:xfrm>
            <a:off x="238125" y="1201325"/>
            <a:ext cx="4825500" cy="39423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1400">
                <a:solidFill>
                  <a:srgbClr val="000000"/>
                </a:solidFill>
                <a:latin typeface="Arial"/>
                <a:ea typeface="Arial"/>
                <a:cs typeface="Arial"/>
                <a:sym typeface="Arial"/>
              </a:rPr>
              <a:t>RAG - Retrieval-Augmented Generation</a:t>
            </a:r>
            <a:endParaRPr b="1" sz="1400">
              <a:solidFill>
                <a:srgbClr val="000000"/>
              </a:solidFill>
              <a:latin typeface="Arial"/>
              <a:ea typeface="Arial"/>
              <a:cs typeface="Arial"/>
              <a:sym typeface="Arial"/>
            </a:endParaRPr>
          </a:p>
          <a:p>
            <a:pPr indent="0" lvl="0" marL="0" rtl="0" algn="just">
              <a:lnSpc>
                <a:spcPct val="95000"/>
              </a:lnSpc>
              <a:spcBef>
                <a:spcPts val="1200"/>
              </a:spcBef>
              <a:spcAft>
                <a:spcPts val="0"/>
              </a:spcAft>
              <a:buNone/>
            </a:pPr>
            <a:r>
              <a:rPr lang="en" sz="1400">
                <a:solidFill>
                  <a:srgbClr val="000000"/>
                </a:solidFill>
                <a:latin typeface="Arial"/>
                <a:ea typeface="Arial"/>
                <a:cs typeface="Arial"/>
                <a:sym typeface="Arial"/>
              </a:rPr>
              <a:t>Combines information retrieval with large language models (LLMs) to generate more accurate, grounded responses.</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 sz="1400">
                <a:solidFill>
                  <a:srgbClr val="000000"/>
                </a:solidFill>
                <a:latin typeface="Arial"/>
                <a:ea typeface="Arial"/>
                <a:cs typeface="Arial"/>
                <a:sym typeface="Arial"/>
              </a:rPr>
              <a:t>Why it matters:</a:t>
            </a:r>
            <a:endParaRPr b="1"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Bridges </a:t>
            </a:r>
            <a:r>
              <a:rPr b="1" lang="en" sz="1400">
                <a:solidFill>
                  <a:srgbClr val="000000"/>
                </a:solidFill>
                <a:latin typeface="Arial"/>
                <a:ea typeface="Arial"/>
                <a:cs typeface="Arial"/>
                <a:sym typeface="Arial"/>
              </a:rPr>
              <a:t>structured + unstructured data</a:t>
            </a:r>
            <a:r>
              <a:rPr lang="en" sz="1400">
                <a:solidFill>
                  <a:srgbClr val="000000"/>
                </a:solidFill>
                <a:latin typeface="Arial"/>
                <a:ea typeface="Arial"/>
                <a:cs typeface="Arial"/>
                <a:sym typeface="Arial"/>
              </a:rPr>
              <a:t> with LLM reasoning.</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Reduces hallucinations by grounding outputs in real data.</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Connection to Data Mining:</a:t>
            </a:r>
            <a:endParaRPr b="1"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AutoNum type="alphaLcPeriod"/>
            </a:pPr>
            <a:r>
              <a:rPr b="1" lang="en" sz="1400">
                <a:solidFill>
                  <a:srgbClr val="000000"/>
                </a:solidFill>
                <a:latin typeface="Arial"/>
                <a:ea typeface="Arial"/>
                <a:cs typeface="Arial"/>
                <a:sym typeface="Arial"/>
              </a:rPr>
              <a:t>Retrieval</a:t>
            </a:r>
            <a:r>
              <a:rPr lang="en" sz="1400">
                <a:solidFill>
                  <a:srgbClr val="000000"/>
                </a:solidFill>
                <a:latin typeface="Arial"/>
                <a:ea typeface="Arial"/>
                <a:cs typeface="Arial"/>
                <a:sym typeface="Arial"/>
              </a:rPr>
              <a:t> – find relevant information efficiently.</a:t>
            </a:r>
            <a:endParaRPr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AutoNum type="alphaLcPeriod"/>
            </a:pPr>
            <a:r>
              <a:rPr b="1" lang="en" sz="1400">
                <a:solidFill>
                  <a:srgbClr val="000000"/>
                </a:solidFill>
                <a:latin typeface="Arial"/>
                <a:ea typeface="Arial"/>
                <a:cs typeface="Arial"/>
                <a:sym typeface="Arial"/>
              </a:rPr>
              <a:t>Ranking</a:t>
            </a:r>
            <a:r>
              <a:rPr lang="en" sz="1400">
                <a:solidFill>
                  <a:srgbClr val="000000"/>
                </a:solidFill>
                <a:latin typeface="Arial"/>
                <a:ea typeface="Arial"/>
                <a:cs typeface="Arial"/>
                <a:sym typeface="Arial"/>
              </a:rPr>
              <a:t> – prioritize the most useful results.</a:t>
            </a:r>
            <a:endParaRPr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AutoNum type="alphaLcPeriod"/>
            </a:pPr>
            <a:r>
              <a:rPr b="1" lang="en" sz="1400">
                <a:solidFill>
                  <a:srgbClr val="000000"/>
                </a:solidFill>
                <a:latin typeface="Arial"/>
                <a:ea typeface="Arial"/>
                <a:cs typeface="Arial"/>
                <a:sym typeface="Arial"/>
              </a:rPr>
              <a:t>Classification</a:t>
            </a:r>
            <a:r>
              <a:rPr lang="en" sz="1400">
                <a:solidFill>
                  <a:srgbClr val="000000"/>
                </a:solidFill>
                <a:latin typeface="Arial"/>
                <a:ea typeface="Arial"/>
                <a:cs typeface="Arial"/>
                <a:sym typeface="Arial"/>
              </a:rPr>
              <a:t> – organize insights into meaningful categories.</a:t>
            </a:r>
            <a:endParaRPr sz="1400">
              <a:solidFill>
                <a:srgbClr val="000000"/>
              </a:solidFill>
              <a:latin typeface="Arial"/>
              <a:ea typeface="Arial"/>
              <a:cs typeface="Arial"/>
              <a:sym typeface="Arial"/>
            </a:endParaRPr>
          </a:p>
          <a:p>
            <a:pPr indent="0" lvl="0" marL="0" rtl="0" algn="just">
              <a:lnSpc>
                <a:spcPct val="95000"/>
              </a:lnSpc>
              <a:spcBef>
                <a:spcPts val="1200"/>
              </a:spcBef>
              <a:spcAft>
                <a:spcPts val="1200"/>
              </a:spcAft>
              <a:buSzPts val="935"/>
              <a:buNone/>
            </a:pPr>
            <a:r>
              <a:t/>
            </a:r>
            <a:endParaRPr i="1" sz="1400">
              <a:solidFill>
                <a:srgbClr val="273540"/>
              </a:solidFill>
              <a:latin typeface="Arial"/>
              <a:ea typeface="Arial"/>
              <a:cs typeface="Arial"/>
              <a:sym typeface="Arial"/>
            </a:endParaRPr>
          </a:p>
        </p:txBody>
      </p:sp>
      <p:pic>
        <p:nvPicPr>
          <p:cNvPr id="171" name="Google Shape;171;p26" title="rag_conceptual_image.png"/>
          <p:cNvPicPr preferRelativeResize="0"/>
          <p:nvPr/>
        </p:nvPicPr>
        <p:blipFill>
          <a:blip r:embed="rId3">
            <a:alphaModFix/>
          </a:blip>
          <a:stretch>
            <a:fillRect/>
          </a:stretch>
        </p:blipFill>
        <p:spPr>
          <a:xfrm>
            <a:off x="5063550" y="2070658"/>
            <a:ext cx="3657599" cy="100218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7650" y="5943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chemeClr val="dk1"/>
                </a:solidFill>
              </a:rPr>
              <a:t>Motivation &amp; Problem Statements</a:t>
            </a:r>
            <a:endParaRPr>
              <a:solidFill>
                <a:schemeClr val="dk1"/>
              </a:solidFill>
            </a:endParaRPr>
          </a:p>
        </p:txBody>
      </p:sp>
      <p:sp>
        <p:nvSpPr>
          <p:cNvPr id="177" name="Google Shape;177;p27"/>
          <p:cNvSpPr txBox="1"/>
          <p:nvPr>
            <p:ph idx="1" type="body"/>
          </p:nvPr>
        </p:nvSpPr>
        <p:spPr>
          <a:xfrm>
            <a:off x="754800" y="1183450"/>
            <a:ext cx="7634400" cy="34719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E‑commerce:</a:t>
            </a:r>
            <a:r>
              <a:rPr lang="en" sz="1400">
                <a:solidFill>
                  <a:srgbClr val="000000"/>
                </a:solidFill>
                <a:latin typeface="Arial"/>
                <a:ea typeface="Arial"/>
                <a:cs typeface="Arial"/>
                <a:sym typeface="Arial"/>
              </a:rPr>
              <a:t> Tons of </a:t>
            </a:r>
            <a:r>
              <a:rPr b="1" lang="en" sz="1400">
                <a:solidFill>
                  <a:srgbClr val="000000"/>
                </a:solidFill>
                <a:latin typeface="Arial"/>
                <a:ea typeface="Arial"/>
                <a:cs typeface="Arial"/>
                <a:sym typeface="Arial"/>
              </a:rPr>
              <a:t>noisy, biased</a:t>
            </a:r>
            <a:r>
              <a:rPr lang="en" sz="1400">
                <a:solidFill>
                  <a:srgbClr val="000000"/>
                </a:solidFill>
                <a:latin typeface="Arial"/>
                <a:ea typeface="Arial"/>
                <a:cs typeface="Arial"/>
                <a:sym typeface="Arial"/>
              </a:rPr>
              <a:t> reviews → need </a:t>
            </a:r>
            <a:r>
              <a:rPr b="1" lang="en" sz="1400">
                <a:solidFill>
                  <a:srgbClr val="000000"/>
                </a:solidFill>
                <a:latin typeface="Arial"/>
                <a:ea typeface="Arial"/>
                <a:cs typeface="Arial"/>
                <a:sym typeface="Arial"/>
              </a:rPr>
              <a:t>trusted, structured insight.</a:t>
            </a:r>
            <a:r>
              <a:rPr lang="en" sz="1400">
                <a:solidFill>
                  <a:srgbClr val="000000"/>
                </a:solidFill>
                <a:latin typeface="Arial"/>
                <a:ea typeface="Arial"/>
                <a:cs typeface="Arial"/>
                <a:sym typeface="Arial"/>
              </a:rPr>
              <a:t> This domain suffer from </a:t>
            </a:r>
            <a:r>
              <a:rPr b="1" lang="en" sz="1400">
                <a:solidFill>
                  <a:srgbClr val="000000"/>
                </a:solidFill>
                <a:latin typeface="Arial"/>
                <a:ea typeface="Arial"/>
                <a:cs typeface="Arial"/>
                <a:sym typeface="Arial"/>
              </a:rPr>
              <a:t>information overload, requiring </a:t>
            </a:r>
            <a:r>
              <a:rPr b="1" lang="en" sz="1400">
                <a:solidFill>
                  <a:srgbClr val="000000"/>
                </a:solidFill>
                <a:latin typeface="Arial"/>
                <a:ea typeface="Arial"/>
                <a:cs typeface="Arial"/>
                <a:sym typeface="Arial"/>
              </a:rPr>
              <a:t>intelligent</a:t>
            </a:r>
            <a:r>
              <a:rPr b="1" lang="en" sz="1400">
                <a:solidFill>
                  <a:srgbClr val="000000"/>
                </a:solidFill>
                <a:latin typeface="Arial"/>
                <a:ea typeface="Arial"/>
                <a:cs typeface="Arial"/>
                <a:sym typeface="Arial"/>
              </a:rPr>
              <a:t> retrieval and summarization.</a:t>
            </a:r>
            <a:endParaRPr b="1"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Our task in CP‑1:</a:t>
            </a:r>
            <a:endParaRPr sz="1400">
              <a:solidFill>
                <a:srgbClr val="000000"/>
              </a:solidFill>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AutoNum type="alphaLcPeriod"/>
            </a:pPr>
            <a:r>
              <a:rPr lang="en" sz="1400">
                <a:solidFill>
                  <a:srgbClr val="000000"/>
                </a:solidFill>
                <a:latin typeface="Arial"/>
                <a:ea typeface="Arial"/>
                <a:cs typeface="Arial"/>
                <a:sym typeface="Arial"/>
              </a:rPr>
              <a:t>retrieve relevant reviews, </a:t>
            </a:r>
            <a:endParaRPr sz="1400">
              <a:solidFill>
                <a:srgbClr val="000000"/>
              </a:solidFill>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AutoNum type="alphaLcPeriod"/>
            </a:pPr>
            <a:r>
              <a:rPr lang="en" sz="1400">
                <a:solidFill>
                  <a:srgbClr val="000000"/>
                </a:solidFill>
                <a:latin typeface="Arial"/>
                <a:ea typeface="Arial"/>
                <a:cs typeface="Arial"/>
                <a:sym typeface="Arial"/>
              </a:rPr>
              <a:t>classify sentiment, </a:t>
            </a:r>
            <a:endParaRPr sz="1400">
              <a:solidFill>
                <a:srgbClr val="000000"/>
              </a:solidFill>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AutoNum type="alphaLcPeriod"/>
            </a:pPr>
            <a:r>
              <a:rPr lang="en" sz="1400">
                <a:solidFill>
                  <a:srgbClr val="000000"/>
                </a:solidFill>
                <a:latin typeface="Arial"/>
                <a:ea typeface="Arial"/>
                <a:cs typeface="Arial"/>
                <a:sym typeface="Arial"/>
              </a:rPr>
              <a:t>and summarize topical opinions (e.g., </a:t>
            </a:r>
            <a:r>
              <a:rPr i="1" lang="en" sz="1400">
                <a:solidFill>
                  <a:srgbClr val="000000"/>
                </a:solidFill>
                <a:latin typeface="Arial"/>
                <a:ea typeface="Arial"/>
                <a:cs typeface="Arial"/>
                <a:sym typeface="Arial"/>
              </a:rPr>
              <a:t>battery life</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(Chess retained as a second domain for </a:t>
            </a:r>
            <a:r>
              <a:rPr b="1" lang="en" sz="1400">
                <a:solidFill>
                  <a:srgbClr val="000000"/>
                </a:solidFill>
                <a:latin typeface="Arial"/>
                <a:ea typeface="Arial"/>
                <a:cs typeface="Arial"/>
                <a:sym typeface="Arial"/>
              </a:rPr>
              <a:t>CP‑2 if time permits.</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00000"/>
              </a:lnSpc>
              <a:spcBef>
                <a:spcPts val="1200"/>
              </a:spcBef>
              <a:spcAft>
                <a:spcPts val="1200"/>
              </a:spcAft>
              <a:buNone/>
            </a:pPr>
            <a:r>
              <a:t/>
            </a:r>
            <a:endParaRPr b="1" sz="14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6519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chemeClr val="dk1"/>
                </a:solidFill>
              </a:rPr>
              <a:t>Pipeline &amp; Evaluation (from pitch)</a:t>
            </a:r>
            <a:endParaRPr>
              <a:solidFill>
                <a:schemeClr val="dk1"/>
              </a:solidFill>
            </a:endParaRPr>
          </a:p>
        </p:txBody>
      </p:sp>
      <p:sp>
        <p:nvSpPr>
          <p:cNvPr id="183" name="Google Shape;183;p28"/>
          <p:cNvSpPr txBox="1"/>
          <p:nvPr>
            <p:ph idx="1" type="body"/>
          </p:nvPr>
        </p:nvSpPr>
        <p:spPr>
          <a:xfrm>
            <a:off x="729450" y="1371600"/>
            <a:ext cx="4884600" cy="3571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 sz="1400">
                <a:solidFill>
                  <a:srgbClr val="000000"/>
                </a:solidFill>
                <a:latin typeface="Arial"/>
                <a:ea typeface="Arial"/>
                <a:cs typeface="Arial"/>
                <a:sym typeface="Arial"/>
              </a:rPr>
              <a:t>Pipeline:</a:t>
            </a:r>
            <a:r>
              <a:rPr lang="en" sz="1400">
                <a:solidFill>
                  <a:srgbClr val="000000"/>
                </a:solidFill>
                <a:latin typeface="Arial"/>
                <a:ea typeface="Arial"/>
                <a:cs typeface="Arial"/>
                <a:sym typeface="Arial"/>
              </a:rPr>
              <a:t> Preprocess → Embed/Index → Retrieve → Augment → (Generate) → </a:t>
            </a:r>
            <a:r>
              <a:rPr b="1" lang="en" sz="1400">
                <a:solidFill>
                  <a:srgbClr val="000000"/>
                </a:solidFill>
                <a:latin typeface="Arial"/>
                <a:ea typeface="Arial"/>
                <a:cs typeface="Arial"/>
                <a:sym typeface="Arial"/>
              </a:rPr>
              <a:t>Data‑mining insights</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400">
                <a:solidFill>
                  <a:srgbClr val="000000"/>
                </a:solidFill>
                <a:latin typeface="Arial"/>
                <a:ea typeface="Arial"/>
                <a:cs typeface="Arial"/>
                <a:sym typeface="Arial"/>
              </a:rPr>
              <a:t>Metrics:</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Accuracy/F1</a:t>
            </a:r>
            <a:r>
              <a:rPr lang="en" sz="1400">
                <a:solidFill>
                  <a:srgbClr val="000000"/>
                </a:solidFill>
                <a:latin typeface="Arial"/>
                <a:ea typeface="Arial"/>
                <a:cs typeface="Arial"/>
                <a:sym typeface="Arial"/>
              </a:rPr>
              <a:t> (classification), </a:t>
            </a:r>
            <a:r>
              <a:rPr b="1" lang="en" sz="1400">
                <a:solidFill>
                  <a:srgbClr val="000000"/>
                </a:solidFill>
                <a:latin typeface="Arial"/>
                <a:ea typeface="Arial"/>
                <a:cs typeface="Arial"/>
                <a:sym typeface="Arial"/>
              </a:rPr>
              <a:t>Precision@k/Recall@k</a:t>
            </a:r>
            <a:r>
              <a:rPr lang="en" sz="1400">
                <a:solidFill>
                  <a:srgbClr val="000000"/>
                </a:solidFill>
                <a:latin typeface="Arial"/>
                <a:ea typeface="Arial"/>
                <a:cs typeface="Arial"/>
                <a:sym typeface="Arial"/>
              </a:rPr>
              <a:t> (retrieval), </a:t>
            </a:r>
            <a:r>
              <a:rPr b="1" lang="en" sz="1400">
                <a:solidFill>
                  <a:srgbClr val="000000"/>
                </a:solidFill>
                <a:latin typeface="Arial"/>
                <a:ea typeface="Arial"/>
                <a:cs typeface="Arial"/>
                <a:sym typeface="Arial"/>
              </a:rPr>
              <a:t>ROUGE/BLEU</a:t>
            </a:r>
            <a:r>
              <a:rPr lang="en" sz="1400">
                <a:solidFill>
                  <a:srgbClr val="000000"/>
                </a:solidFill>
                <a:latin typeface="Arial"/>
                <a:ea typeface="Arial"/>
                <a:cs typeface="Arial"/>
                <a:sym typeface="Arial"/>
              </a:rPr>
              <a:t> (summarization; for CP‑2).</a:t>
            </a:r>
            <a:endParaRPr sz="14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400">
                <a:solidFill>
                  <a:srgbClr val="000000"/>
                </a:solidFill>
                <a:latin typeface="Arial"/>
                <a:ea typeface="Arial"/>
                <a:cs typeface="Arial"/>
                <a:sym typeface="Arial"/>
              </a:rPr>
              <a:t>Baseline vs Proposed:</a:t>
            </a:r>
            <a:r>
              <a:rPr lang="en" sz="1400">
                <a:solidFill>
                  <a:srgbClr val="000000"/>
                </a:solidFill>
                <a:latin typeface="Arial"/>
                <a:ea typeface="Arial"/>
                <a:cs typeface="Arial"/>
                <a:sym typeface="Arial"/>
              </a:rPr>
              <a:t> Baselines (LogReg, Linear SVC) vs </a:t>
            </a:r>
            <a:r>
              <a:rPr b="1" lang="en" sz="1400">
                <a:solidFill>
                  <a:srgbClr val="000000"/>
                </a:solidFill>
                <a:latin typeface="Arial"/>
                <a:ea typeface="Arial"/>
                <a:cs typeface="Arial"/>
                <a:sym typeface="Arial"/>
              </a:rPr>
              <a:t>RAG pipeline</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b="1" sz="1400">
              <a:solidFill>
                <a:srgbClr val="000000"/>
              </a:solidFill>
              <a:latin typeface="Arial"/>
              <a:ea typeface="Arial"/>
              <a:cs typeface="Arial"/>
              <a:sym typeface="Arial"/>
            </a:endParaRPr>
          </a:p>
        </p:txBody>
      </p:sp>
      <p:pic>
        <p:nvPicPr>
          <p:cNvPr id="184" name="Google Shape;184;p28" title="Blank diagram (2).png"/>
          <p:cNvPicPr preferRelativeResize="0"/>
          <p:nvPr/>
        </p:nvPicPr>
        <p:blipFill>
          <a:blip r:embed="rId3">
            <a:alphaModFix/>
          </a:blip>
          <a:stretch>
            <a:fillRect/>
          </a:stretch>
        </p:blipFill>
        <p:spPr>
          <a:xfrm>
            <a:off x="6873401" y="658375"/>
            <a:ext cx="1371601" cy="441655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727650" y="6519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chemeClr val="dk1"/>
                </a:solidFill>
              </a:rPr>
              <a:t>Dataset &amp; Task Setup</a:t>
            </a:r>
            <a:endParaRPr>
              <a:solidFill>
                <a:schemeClr val="dk1"/>
              </a:solidFill>
            </a:endParaRPr>
          </a:p>
        </p:txBody>
      </p:sp>
      <p:sp>
        <p:nvSpPr>
          <p:cNvPr id="190" name="Google Shape;190;p29"/>
          <p:cNvSpPr txBox="1"/>
          <p:nvPr>
            <p:ph idx="1" type="body"/>
          </p:nvPr>
        </p:nvSpPr>
        <p:spPr>
          <a:xfrm>
            <a:off x="727650" y="1357300"/>
            <a:ext cx="7688700" cy="36315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Data:</a:t>
            </a:r>
            <a:r>
              <a:rPr lang="en" sz="1400">
                <a:solidFill>
                  <a:srgbClr val="000000"/>
                </a:solidFill>
                <a:latin typeface="Arial"/>
                <a:ea typeface="Arial"/>
                <a:cs typeface="Arial"/>
                <a:sym typeface="Arial"/>
              </a:rPr>
              <a:t> Amazon Reviews Polarity (</a:t>
            </a:r>
            <a:r>
              <a:rPr lang="en" sz="1400" u="sng">
                <a:solidFill>
                  <a:schemeClr val="hlink"/>
                </a:solidFill>
                <a:latin typeface="Arial"/>
                <a:ea typeface="Arial"/>
                <a:cs typeface="Arial"/>
                <a:sym typeface="Arial"/>
                <a:hlinkClick r:id="rId3"/>
              </a:rPr>
              <a:t>Dataset link</a:t>
            </a:r>
            <a:r>
              <a:rPr lang="en" sz="1400">
                <a:solidFill>
                  <a:srgbClr val="000000"/>
                </a:solidFill>
                <a:latin typeface="Arial"/>
                <a:ea typeface="Arial"/>
                <a:cs typeface="Arial"/>
                <a:sym typeface="Arial"/>
              </a:rPr>
              <a:t>): </a:t>
            </a:r>
            <a:r>
              <a:rPr lang="en" sz="1400">
                <a:solidFill>
                  <a:srgbClr val="000000"/>
                </a:solidFill>
                <a:latin typeface="Arial"/>
                <a:ea typeface="Arial"/>
                <a:cs typeface="Arial"/>
                <a:sym typeface="Arial"/>
              </a:rPr>
              <a:t>1=neg, 2=pos; titles + texts.</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Sample used:</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300,000 train</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100,000 test</a:t>
            </a:r>
            <a:r>
              <a:rPr lang="en" sz="1400">
                <a:solidFill>
                  <a:srgbClr val="000000"/>
                </a:solidFill>
                <a:latin typeface="Arial"/>
                <a:ea typeface="Arial"/>
                <a:cs typeface="Arial"/>
                <a:sym typeface="Arial"/>
              </a:rPr>
              <a:t>; seed=42 (for randomness).</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Goal:</a:t>
            </a:r>
            <a:r>
              <a:rPr lang="en" sz="1400">
                <a:solidFill>
                  <a:srgbClr val="000000"/>
                </a:solidFill>
                <a:latin typeface="Arial"/>
                <a:ea typeface="Arial"/>
                <a:cs typeface="Arial"/>
                <a:sym typeface="Arial"/>
              </a:rPr>
              <a:t> binary sentiment (pos vs neg) + </a:t>
            </a:r>
            <a:r>
              <a:rPr b="1" lang="en" sz="1400">
                <a:solidFill>
                  <a:srgbClr val="000000"/>
                </a:solidFill>
                <a:latin typeface="Arial"/>
                <a:ea typeface="Arial"/>
                <a:cs typeface="Arial"/>
                <a:sym typeface="Arial"/>
              </a:rPr>
              <a:t>topic‑level RAG</a:t>
            </a:r>
            <a:r>
              <a:rPr lang="en" sz="1400">
                <a:solidFill>
                  <a:srgbClr val="000000"/>
                </a:solidFill>
                <a:latin typeface="Arial"/>
                <a:ea typeface="Arial"/>
                <a:cs typeface="Arial"/>
                <a:sym typeface="Arial"/>
              </a:rPr>
              <a:t> demo (no product IDs in this subset).</a:t>
            </a:r>
            <a:endParaRPr sz="1400">
              <a:solidFill>
                <a:srgbClr val="000000"/>
              </a:solidFill>
              <a:latin typeface="Arial"/>
              <a:ea typeface="Arial"/>
              <a:cs typeface="Arial"/>
              <a:sym typeface="Arial"/>
            </a:endParaRPr>
          </a:p>
          <a:p>
            <a:pPr indent="0" lvl="0" marL="457200" rtl="0" algn="r">
              <a:lnSpc>
                <a:spcPct val="150000"/>
              </a:lnSpc>
              <a:spcBef>
                <a:spcPts val="1200"/>
              </a:spcBef>
              <a:spcAft>
                <a:spcPts val="0"/>
              </a:spcAft>
              <a:buNone/>
            </a:pPr>
            <a:r>
              <a:t/>
            </a:r>
            <a:endParaRPr sz="1000">
              <a:solidFill>
                <a:srgbClr val="000000"/>
              </a:solidFill>
              <a:latin typeface="Arial"/>
              <a:ea typeface="Arial"/>
              <a:cs typeface="Arial"/>
              <a:sym typeface="Arial"/>
            </a:endParaRPr>
          </a:p>
          <a:p>
            <a:pPr indent="0" lvl="0" marL="457200" rtl="0" algn="r">
              <a:lnSpc>
                <a:spcPct val="150000"/>
              </a:lnSpc>
              <a:spcBef>
                <a:spcPts val="1200"/>
              </a:spcBef>
              <a:spcAft>
                <a:spcPts val="0"/>
              </a:spcAft>
              <a:buNone/>
            </a:pPr>
            <a:r>
              <a:t/>
            </a:r>
            <a:endParaRPr sz="1000">
              <a:solidFill>
                <a:srgbClr val="000000"/>
              </a:solidFill>
              <a:latin typeface="Arial"/>
              <a:ea typeface="Arial"/>
              <a:cs typeface="Arial"/>
              <a:sym typeface="Arial"/>
            </a:endParaRPr>
          </a:p>
          <a:p>
            <a:pPr indent="0" lvl="0" marL="457200" rtl="0" algn="r">
              <a:lnSpc>
                <a:spcPct val="150000"/>
              </a:lnSpc>
              <a:spcBef>
                <a:spcPts val="1200"/>
              </a:spcBef>
              <a:spcAft>
                <a:spcPts val="0"/>
              </a:spcAft>
              <a:buNone/>
            </a:pPr>
            <a:r>
              <a:t/>
            </a:r>
            <a:endParaRPr sz="1000">
              <a:solidFill>
                <a:srgbClr val="000000"/>
              </a:solidFill>
              <a:latin typeface="Arial"/>
              <a:ea typeface="Arial"/>
              <a:cs typeface="Arial"/>
              <a:sym typeface="Arial"/>
            </a:endParaRPr>
          </a:p>
          <a:p>
            <a:pPr indent="0" lvl="0" marL="457200" rtl="0" algn="r">
              <a:lnSpc>
                <a:spcPct val="150000"/>
              </a:lnSpc>
              <a:spcBef>
                <a:spcPts val="1200"/>
              </a:spcBef>
              <a:spcAft>
                <a:spcPts val="0"/>
              </a:spcAft>
              <a:buNone/>
            </a:pPr>
            <a:r>
              <a:t/>
            </a:r>
            <a:endParaRPr sz="1000">
              <a:solidFill>
                <a:srgbClr val="000000"/>
              </a:solidFill>
              <a:latin typeface="Arial"/>
              <a:ea typeface="Arial"/>
              <a:cs typeface="Arial"/>
              <a:sym typeface="Arial"/>
            </a:endParaRPr>
          </a:p>
          <a:p>
            <a:pPr indent="0" lvl="0" marL="457200" rtl="0" algn="r">
              <a:lnSpc>
                <a:spcPct val="150000"/>
              </a:lnSpc>
              <a:spcBef>
                <a:spcPts val="1200"/>
              </a:spcBef>
              <a:spcAft>
                <a:spcPts val="0"/>
              </a:spcAft>
              <a:buNone/>
            </a:pPr>
            <a:r>
              <a:t/>
            </a:r>
            <a:endParaRPr sz="1000">
              <a:solidFill>
                <a:srgbClr val="000000"/>
              </a:solidFill>
              <a:latin typeface="Arial"/>
              <a:ea typeface="Arial"/>
              <a:cs typeface="Arial"/>
              <a:sym typeface="Arial"/>
            </a:endParaRPr>
          </a:p>
          <a:p>
            <a:pPr indent="0" lvl="0" marL="457200" rtl="0" algn="r">
              <a:lnSpc>
                <a:spcPct val="150000"/>
              </a:lnSpc>
              <a:spcBef>
                <a:spcPts val="1200"/>
              </a:spcBef>
              <a:spcAft>
                <a:spcPts val="0"/>
              </a:spcAft>
              <a:buNone/>
            </a:pPr>
            <a:r>
              <a:rPr lang="en" sz="1000">
                <a:solidFill>
                  <a:srgbClr val="000000"/>
                </a:solidFill>
                <a:latin typeface="Arial"/>
                <a:ea typeface="Arial"/>
                <a:cs typeface="Arial"/>
                <a:sym typeface="Arial"/>
              </a:rPr>
              <a:t>Amazon Reviews Polarity (Kaggle SNAP subset). Citation: Xiang Zhang, Junbo Zhao, Yann LeCun (NIPS ’15).</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0" lvl="0" marL="0" rtl="0" algn="l">
              <a:lnSpc>
                <a:spcPct val="150000"/>
              </a:lnSpc>
              <a:spcBef>
                <a:spcPts val="1200"/>
              </a:spcBef>
              <a:spcAft>
                <a:spcPts val="1200"/>
              </a:spcAft>
              <a:buSzPts val="935"/>
              <a:buNone/>
            </a:pPr>
            <a:r>
              <a:t/>
            </a:r>
            <a:endParaRPr b="1" sz="14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60900" y="616175"/>
            <a:ext cx="49455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111111"/>
              <a:buFont typeface="Arial"/>
              <a:buNone/>
            </a:pPr>
            <a:r>
              <a:rPr lang="en">
                <a:solidFill>
                  <a:schemeClr val="dk1"/>
                </a:solidFill>
              </a:rPr>
              <a:t>EDA: Class Balance &amp; lengths</a:t>
            </a:r>
            <a:endParaRPr>
              <a:solidFill>
                <a:schemeClr val="dk1"/>
              </a:solidFill>
            </a:endParaRPr>
          </a:p>
          <a:p>
            <a:pPr indent="0" lvl="0" marL="0" rtl="0" algn="l">
              <a:spcBef>
                <a:spcPts val="0"/>
              </a:spcBef>
              <a:spcAft>
                <a:spcPts val="0"/>
              </a:spcAft>
              <a:buNone/>
            </a:pPr>
            <a:r>
              <a:t/>
            </a:r>
            <a:endParaRPr/>
          </a:p>
        </p:txBody>
      </p:sp>
      <p:sp>
        <p:nvSpPr>
          <p:cNvPr id="196" name="Google Shape;196;p30"/>
          <p:cNvSpPr txBox="1"/>
          <p:nvPr>
            <p:ph idx="1" type="body"/>
          </p:nvPr>
        </p:nvSpPr>
        <p:spPr>
          <a:xfrm>
            <a:off x="495300" y="1404925"/>
            <a:ext cx="4076700" cy="35004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Balanced classes in sample: </a:t>
            </a:r>
            <a:r>
              <a:rPr b="1" lang="en" sz="1400">
                <a:solidFill>
                  <a:srgbClr val="000000"/>
                </a:solidFill>
                <a:latin typeface="Arial"/>
                <a:ea typeface="Arial"/>
                <a:cs typeface="Arial"/>
                <a:sym typeface="Arial"/>
              </a:rPr>
              <a:t>149,970 neg / 150,030 pos</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Missing:</a:t>
            </a:r>
            <a:r>
              <a:rPr lang="en" sz="1400">
                <a:solidFill>
                  <a:srgbClr val="000000"/>
                </a:solidFill>
                <a:latin typeface="Arial"/>
                <a:ea typeface="Arial"/>
                <a:cs typeface="Arial"/>
                <a:sym typeface="Arial"/>
              </a:rPr>
              <a:t> 18 titles; </a:t>
            </a:r>
            <a:r>
              <a:rPr b="1" lang="en" sz="1400">
                <a:solidFill>
                  <a:srgbClr val="000000"/>
                </a:solidFill>
                <a:latin typeface="Arial"/>
                <a:ea typeface="Arial"/>
                <a:cs typeface="Arial"/>
                <a:sym typeface="Arial"/>
              </a:rPr>
              <a:t>duplicates:</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0.002%</a:t>
            </a:r>
            <a:r>
              <a:rPr lang="en" sz="1400">
                <a:solidFill>
                  <a:srgbClr val="000000"/>
                </a:solidFill>
                <a:latin typeface="Arial"/>
                <a:ea typeface="Arial"/>
                <a:cs typeface="Arial"/>
                <a:sym typeface="Arial"/>
              </a:rPr>
              <a:t> (negligible).</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Median length: </a:t>
            </a:r>
            <a:r>
              <a:rPr b="1" lang="en" sz="1400">
                <a:solidFill>
                  <a:srgbClr val="000000"/>
                </a:solidFill>
                <a:latin typeface="Arial"/>
                <a:ea typeface="Arial"/>
                <a:cs typeface="Arial"/>
                <a:sym typeface="Arial"/>
              </a:rPr>
              <a:t>72 words</a:t>
            </a:r>
            <a:r>
              <a:rPr lang="en" sz="1400">
                <a:solidFill>
                  <a:srgbClr val="000000"/>
                </a:solidFill>
                <a:latin typeface="Arial"/>
                <a:ea typeface="Arial"/>
                <a:cs typeface="Arial"/>
                <a:sym typeface="Arial"/>
              </a:rPr>
              <a:t> (pos </a:t>
            </a:r>
            <a:r>
              <a:rPr b="1" lang="en" sz="1400">
                <a:solidFill>
                  <a:srgbClr val="000000"/>
                </a:solidFill>
                <a:latin typeface="Arial"/>
                <a:ea typeface="Arial"/>
                <a:cs typeface="Arial"/>
                <a:sym typeface="Arial"/>
              </a:rPr>
              <a:t>68</a:t>
            </a:r>
            <a:r>
              <a:rPr lang="en" sz="1400">
                <a:solidFill>
                  <a:srgbClr val="000000"/>
                </a:solidFill>
                <a:latin typeface="Arial"/>
                <a:ea typeface="Arial"/>
                <a:cs typeface="Arial"/>
                <a:sym typeface="Arial"/>
              </a:rPr>
              <a:t>, neg </a:t>
            </a:r>
            <a:r>
              <a:rPr b="1" lang="en" sz="1400">
                <a:solidFill>
                  <a:srgbClr val="000000"/>
                </a:solidFill>
                <a:latin typeface="Arial"/>
                <a:ea typeface="Arial"/>
                <a:cs typeface="Arial"/>
                <a:sym typeface="Arial"/>
              </a:rPr>
              <a:t>76</a:t>
            </a:r>
            <a:r>
              <a:rPr lang="en" sz="1400">
                <a:solidFill>
                  <a:srgbClr val="000000"/>
                </a:solidFill>
                <a:latin typeface="Arial"/>
                <a:ea typeface="Arial"/>
                <a:cs typeface="Arial"/>
                <a:sym typeface="Arial"/>
              </a:rPr>
              <a:t>; negatives slightly longer).</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pic>
        <p:nvPicPr>
          <p:cNvPr id="197" name="Google Shape;197;p30" title="eda_class_balance.png"/>
          <p:cNvPicPr preferRelativeResize="0"/>
          <p:nvPr/>
        </p:nvPicPr>
        <p:blipFill>
          <a:blip r:embed="rId3">
            <a:alphaModFix/>
          </a:blip>
          <a:stretch>
            <a:fillRect/>
          </a:stretch>
        </p:blipFill>
        <p:spPr>
          <a:xfrm>
            <a:off x="5673150" y="3014650"/>
            <a:ext cx="2286000" cy="1714500"/>
          </a:xfrm>
          <a:prstGeom prst="rect">
            <a:avLst/>
          </a:prstGeom>
          <a:noFill/>
          <a:ln>
            <a:noFill/>
          </a:ln>
        </p:spPr>
      </p:pic>
      <p:pic>
        <p:nvPicPr>
          <p:cNvPr id="198" name="Google Shape;198;p30" title="eda_review_length_hist.png"/>
          <p:cNvPicPr preferRelativeResize="0"/>
          <p:nvPr/>
        </p:nvPicPr>
        <p:blipFill>
          <a:blip r:embed="rId4">
            <a:alphaModFix/>
          </a:blip>
          <a:stretch>
            <a:fillRect/>
          </a:stretch>
        </p:blipFill>
        <p:spPr>
          <a:xfrm>
            <a:off x="5673150" y="857238"/>
            <a:ext cx="2286000" cy="171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nvSpPr>
        <p:spPr>
          <a:xfrm>
            <a:off x="0" y="1228725"/>
            <a:ext cx="9144000" cy="4106700"/>
          </a:xfrm>
          <a:prstGeom prst="rect">
            <a:avLst/>
          </a:prstGeom>
          <a:noFill/>
          <a:ln>
            <a:noFill/>
          </a:ln>
        </p:spPr>
        <p:txBody>
          <a:bodyPr anchorCtr="0" anchor="t" bIns="91425" lIns="91425" spcFirstLastPara="1" rIns="91425" wrap="square" tIns="91425">
            <a:spAutoFit/>
          </a:bodyPr>
          <a:lstStyle/>
          <a:p>
            <a:pPr indent="-317500" lvl="0" marL="457200" rtl="0" algn="l">
              <a:lnSpc>
                <a:spcPct val="100000"/>
              </a:lnSpc>
              <a:spcBef>
                <a:spcPts val="0"/>
              </a:spcBef>
              <a:spcAft>
                <a:spcPts val="0"/>
              </a:spcAft>
              <a:buSzPts val="1400"/>
              <a:buChar char="●"/>
            </a:pPr>
            <a:r>
              <a:rPr b="1" lang="en"/>
              <a:t>Top</a:t>
            </a:r>
            <a:r>
              <a:rPr lang="en"/>
              <a:t> discriminative uni/bi‑grams (log‑odds) separate classes well.</a:t>
            </a:r>
            <a:endParaRPr/>
          </a:p>
          <a:p>
            <a:pPr indent="0" lvl="0" marL="457200" rtl="0" algn="l">
              <a:lnSpc>
                <a:spcPct val="100000"/>
              </a:lnSpc>
              <a:spcBef>
                <a:spcPts val="0"/>
              </a:spcBef>
              <a:spcAft>
                <a:spcPts val="0"/>
              </a:spcAft>
              <a:buNone/>
            </a:pPr>
            <a:r>
              <a:t/>
            </a:r>
            <a:endParaRPr/>
          </a:p>
          <a:p>
            <a:pPr indent="-317500" lvl="0" marL="457200" rtl="0" algn="l">
              <a:lnSpc>
                <a:spcPct val="115000"/>
              </a:lnSpc>
              <a:spcBef>
                <a:spcPts val="1200"/>
              </a:spcBef>
              <a:spcAft>
                <a:spcPts val="0"/>
              </a:spcAft>
              <a:buSzPts val="1400"/>
              <a:buChar char="●"/>
            </a:pPr>
            <a:r>
              <a:rPr lang="en"/>
              <a:t>Confirms bag‑of‑words TF‑IDF is appropriate for a strong baseline.</a:t>
            </a:r>
            <a:endParaRPr/>
          </a:p>
          <a:p>
            <a:pPr indent="0" lvl="0" marL="0" rtl="0" algn="l">
              <a:lnSpc>
                <a:spcPct val="115000"/>
              </a:lnSpc>
              <a:spcBef>
                <a:spcPts val="1200"/>
              </a:spcBef>
              <a:spcAft>
                <a:spcPts val="0"/>
              </a:spcAft>
              <a:buNone/>
            </a:pPr>
            <a:r>
              <a:t/>
            </a:r>
            <a:endParaRPr b="1" sz="1007"/>
          </a:p>
          <a:p>
            <a:pPr indent="0" lvl="0" marL="0" rtl="0" algn="l">
              <a:lnSpc>
                <a:spcPct val="115000"/>
              </a:lnSpc>
              <a:spcBef>
                <a:spcPts val="1200"/>
              </a:spcBef>
              <a:spcAft>
                <a:spcPts val="0"/>
              </a:spcAft>
              <a:buNone/>
            </a:pPr>
            <a:r>
              <a:t/>
            </a:r>
            <a:endParaRPr b="1" sz="1007"/>
          </a:p>
          <a:p>
            <a:pPr indent="0" lvl="0" marL="0" rtl="0" algn="l">
              <a:lnSpc>
                <a:spcPct val="115000"/>
              </a:lnSpc>
              <a:spcBef>
                <a:spcPts val="1200"/>
              </a:spcBef>
              <a:spcAft>
                <a:spcPts val="0"/>
              </a:spcAft>
              <a:buNone/>
            </a:pPr>
            <a:r>
              <a:t/>
            </a:r>
            <a:endParaRPr b="1" sz="1007"/>
          </a:p>
          <a:p>
            <a:pPr indent="0" lvl="0" marL="0" rtl="0" algn="l">
              <a:lnSpc>
                <a:spcPct val="115000"/>
              </a:lnSpc>
              <a:spcBef>
                <a:spcPts val="1200"/>
              </a:spcBef>
              <a:spcAft>
                <a:spcPts val="0"/>
              </a:spcAft>
              <a:buNone/>
            </a:pPr>
            <a:r>
              <a:t/>
            </a:r>
            <a:endParaRPr b="1" sz="1007"/>
          </a:p>
          <a:p>
            <a:pPr indent="0" lvl="0" marL="0" rtl="0" algn="l">
              <a:lnSpc>
                <a:spcPct val="115000"/>
              </a:lnSpc>
              <a:spcBef>
                <a:spcPts val="1200"/>
              </a:spcBef>
              <a:spcAft>
                <a:spcPts val="0"/>
              </a:spcAft>
              <a:buNone/>
            </a:pPr>
            <a:r>
              <a:t/>
            </a:r>
            <a:endParaRPr b="1" sz="1007"/>
          </a:p>
          <a:p>
            <a:pPr indent="0" lvl="0" marL="0" rtl="0" algn="l">
              <a:lnSpc>
                <a:spcPct val="115000"/>
              </a:lnSpc>
              <a:spcBef>
                <a:spcPts val="1200"/>
              </a:spcBef>
              <a:spcAft>
                <a:spcPts val="0"/>
              </a:spcAft>
              <a:buNone/>
            </a:pPr>
            <a:r>
              <a:t/>
            </a:r>
            <a:endParaRPr b="1" sz="1007"/>
          </a:p>
          <a:p>
            <a:pPr indent="0" lvl="0" marL="0" rtl="0" algn="l">
              <a:lnSpc>
                <a:spcPct val="115000"/>
              </a:lnSpc>
              <a:spcBef>
                <a:spcPts val="1200"/>
              </a:spcBef>
              <a:spcAft>
                <a:spcPts val="0"/>
              </a:spcAft>
              <a:buNone/>
            </a:pPr>
            <a:r>
              <a:t/>
            </a:r>
            <a:endParaRPr b="1" sz="1007"/>
          </a:p>
          <a:p>
            <a:pPr indent="0" lvl="0" marL="0" rtl="0" algn="l">
              <a:lnSpc>
                <a:spcPct val="115000"/>
              </a:lnSpc>
              <a:spcBef>
                <a:spcPts val="1200"/>
              </a:spcBef>
              <a:spcAft>
                <a:spcPts val="0"/>
              </a:spcAft>
              <a:buNone/>
            </a:pPr>
            <a:r>
              <a:t/>
            </a:r>
            <a:endParaRPr b="1" sz="1007"/>
          </a:p>
          <a:p>
            <a:pPr indent="0" lvl="0" marL="0" rtl="0" algn="l">
              <a:lnSpc>
                <a:spcPct val="100000"/>
              </a:lnSpc>
              <a:spcBef>
                <a:spcPts val="1200"/>
              </a:spcBef>
              <a:spcAft>
                <a:spcPts val="0"/>
              </a:spcAft>
              <a:buNone/>
            </a:pPr>
            <a:r>
              <a:t/>
            </a:r>
            <a:endParaRPr sz="1800">
              <a:solidFill>
                <a:schemeClr val="accent1"/>
              </a:solidFill>
            </a:endParaRPr>
          </a:p>
        </p:txBody>
      </p:sp>
      <p:sp>
        <p:nvSpPr>
          <p:cNvPr id="204" name="Google Shape;204;p31"/>
          <p:cNvSpPr txBox="1"/>
          <p:nvPr/>
        </p:nvSpPr>
        <p:spPr>
          <a:xfrm>
            <a:off x="865800" y="556525"/>
            <a:ext cx="7412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dk1"/>
                </a:solidFill>
                <a:latin typeface="Raleway"/>
                <a:ea typeface="Raleway"/>
                <a:cs typeface="Raleway"/>
                <a:sym typeface="Raleway"/>
              </a:rPr>
              <a:t>EDA: Distinctive Terms (by class)</a:t>
            </a:r>
            <a:endParaRPr b="1" sz="2600">
              <a:solidFill>
                <a:schemeClr val="dk1"/>
              </a:solidFill>
              <a:latin typeface="Raleway"/>
              <a:ea typeface="Raleway"/>
              <a:cs typeface="Raleway"/>
              <a:sym typeface="Raleway"/>
            </a:endParaRPr>
          </a:p>
        </p:txBody>
      </p:sp>
      <p:pic>
        <p:nvPicPr>
          <p:cNvPr id="205" name="Google Shape;205;p31" title="eda_top_neg_tokens.png"/>
          <p:cNvPicPr preferRelativeResize="0"/>
          <p:nvPr/>
        </p:nvPicPr>
        <p:blipFill>
          <a:blip r:embed="rId3">
            <a:alphaModFix/>
          </a:blip>
          <a:stretch>
            <a:fillRect/>
          </a:stretch>
        </p:blipFill>
        <p:spPr>
          <a:xfrm>
            <a:off x="430450" y="2221250"/>
            <a:ext cx="3657600" cy="2747264"/>
          </a:xfrm>
          <a:prstGeom prst="rect">
            <a:avLst/>
          </a:prstGeom>
          <a:noFill/>
          <a:ln>
            <a:noFill/>
          </a:ln>
        </p:spPr>
      </p:pic>
      <p:pic>
        <p:nvPicPr>
          <p:cNvPr id="206" name="Google Shape;206;p31" title="eda_top_pos_tokens.png"/>
          <p:cNvPicPr preferRelativeResize="0"/>
          <p:nvPr/>
        </p:nvPicPr>
        <p:blipFill>
          <a:blip r:embed="rId4">
            <a:alphaModFix/>
          </a:blip>
          <a:stretch>
            <a:fillRect/>
          </a:stretch>
        </p:blipFill>
        <p:spPr>
          <a:xfrm>
            <a:off x="4991225" y="2221250"/>
            <a:ext cx="3657600" cy="27472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type="title"/>
          </p:nvPr>
        </p:nvSpPr>
        <p:spPr>
          <a:xfrm>
            <a:off x="727650" y="5923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Preliminary data-mining pipeline</a:t>
            </a:r>
            <a:endParaRPr>
              <a:solidFill>
                <a:schemeClr val="dk1"/>
              </a:solidFill>
            </a:endParaRPr>
          </a:p>
          <a:p>
            <a:pPr indent="0" lvl="0" marL="0" rtl="0" algn="l">
              <a:spcBef>
                <a:spcPts val="0"/>
              </a:spcBef>
              <a:spcAft>
                <a:spcPts val="0"/>
              </a:spcAft>
              <a:buNone/>
            </a:pPr>
            <a:r>
              <a:t/>
            </a:r>
            <a:endParaRPr sz="2300">
              <a:solidFill>
                <a:srgbClr val="000000"/>
              </a:solidFill>
              <a:latin typeface="Arial"/>
              <a:ea typeface="Arial"/>
              <a:cs typeface="Arial"/>
              <a:sym typeface="Arial"/>
            </a:endParaRPr>
          </a:p>
        </p:txBody>
      </p:sp>
      <p:sp>
        <p:nvSpPr>
          <p:cNvPr id="212" name="Google Shape;212;p32"/>
          <p:cNvSpPr txBox="1"/>
          <p:nvPr>
            <p:ph idx="1" type="body"/>
          </p:nvPr>
        </p:nvSpPr>
        <p:spPr>
          <a:xfrm>
            <a:off x="411300" y="1404950"/>
            <a:ext cx="8321400" cy="35901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Arial"/>
              <a:buChar char="●"/>
            </a:pPr>
            <a:r>
              <a:rPr b="1" lang="en" sz="1400">
                <a:solidFill>
                  <a:srgbClr val="000000"/>
                </a:solidFill>
                <a:latin typeface="Arial"/>
                <a:ea typeface="Arial"/>
                <a:cs typeface="Arial"/>
                <a:sym typeface="Arial"/>
              </a:rPr>
              <a:t>Cleaning:</a:t>
            </a:r>
            <a:r>
              <a:rPr lang="en" sz="1400">
                <a:solidFill>
                  <a:srgbClr val="000000"/>
                </a:solidFill>
                <a:latin typeface="Arial"/>
                <a:ea typeface="Arial"/>
                <a:cs typeface="Arial"/>
                <a:sym typeface="Arial"/>
              </a:rPr>
              <a:t> unescape </a:t>
            </a:r>
            <a:r>
              <a:rPr lang="en" sz="1400">
                <a:solidFill>
                  <a:srgbClr val="188038"/>
                </a:solidFill>
                <a:latin typeface="Arial"/>
                <a:ea typeface="Arial"/>
                <a:cs typeface="Arial"/>
                <a:sym typeface="Arial"/>
              </a:rPr>
              <a:t>\n</a:t>
            </a:r>
            <a:r>
              <a:rPr lang="en" sz="1400">
                <a:solidFill>
                  <a:srgbClr val="000000"/>
                </a:solidFill>
                <a:latin typeface="Arial"/>
                <a:ea typeface="Arial"/>
                <a:cs typeface="Arial"/>
                <a:sym typeface="Arial"/>
              </a:rPr>
              <a:t>, lowercase, strip punctuation, collapse spaces.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Features:</a:t>
            </a:r>
            <a:r>
              <a:rPr lang="en" sz="1400">
                <a:solidFill>
                  <a:srgbClr val="000000"/>
                </a:solidFill>
                <a:latin typeface="Arial"/>
                <a:ea typeface="Arial"/>
                <a:cs typeface="Arial"/>
                <a:sym typeface="Arial"/>
              </a:rPr>
              <a:t> TF‑IDF (uni+bi), max_features=200k, min_df=5, </a:t>
            </a:r>
            <a:r>
              <a:rPr b="1" lang="en" sz="1400">
                <a:solidFill>
                  <a:srgbClr val="000000"/>
                </a:solidFill>
                <a:latin typeface="Arial"/>
                <a:ea typeface="Arial"/>
                <a:cs typeface="Arial"/>
                <a:sym typeface="Arial"/>
              </a:rPr>
              <a:t>sublinear_tf</a:t>
            </a:r>
            <a:r>
              <a:rPr lang="en" sz="1400">
                <a:solidFill>
                  <a:srgbClr val="000000"/>
                </a:solidFill>
                <a:latin typeface="Arial"/>
                <a:ea typeface="Arial"/>
                <a:cs typeface="Arial"/>
                <a:sym typeface="Arial"/>
              </a:rPr>
              <a:t> (ablation‑picked).</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Baseline Models:</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Linear SVM</a:t>
            </a:r>
            <a:r>
              <a:rPr lang="en" sz="1400">
                <a:solidFill>
                  <a:srgbClr val="000000"/>
                </a:solidFill>
                <a:latin typeface="Arial"/>
                <a:ea typeface="Arial"/>
                <a:cs typeface="Arial"/>
                <a:sym typeface="Arial"/>
              </a:rPr>
              <a:t>, Logistic Regression (saga), Complement NB.</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Train/Test:</a:t>
            </a:r>
            <a:r>
              <a:rPr lang="en" sz="1400">
                <a:solidFill>
                  <a:srgbClr val="000000"/>
                </a:solidFill>
                <a:latin typeface="Arial"/>
                <a:ea typeface="Arial"/>
                <a:cs typeface="Arial"/>
                <a:sym typeface="Arial"/>
              </a:rPr>
              <a:t> sampled official splits; pos label = 2</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100">
                <a:solidFill>
                  <a:srgbClr val="000000"/>
                </a:solidFill>
                <a:latin typeface="Arial"/>
                <a:ea typeface="Arial"/>
                <a:cs typeface="Arial"/>
                <a:sym typeface="Arial"/>
              </a:rPr>
              <a:t>Reproducibility:</a:t>
            </a:r>
            <a:r>
              <a:rPr lang="en" sz="1100">
                <a:solidFill>
                  <a:srgbClr val="000000"/>
                </a:solidFill>
                <a:latin typeface="Arial"/>
                <a:ea typeface="Arial"/>
                <a:cs typeface="Arial"/>
                <a:sym typeface="Arial"/>
              </a:rPr>
              <a:t> TF‑IDF (uni+bi; </a:t>
            </a:r>
            <a:r>
              <a:rPr lang="en" sz="1100">
                <a:solidFill>
                  <a:srgbClr val="188038"/>
                </a:solidFill>
                <a:latin typeface="Roboto Mono"/>
                <a:ea typeface="Roboto Mono"/>
                <a:cs typeface="Roboto Mono"/>
                <a:sym typeface="Roboto Mono"/>
              </a:rPr>
              <a:t>max_features=200k</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min_df=5</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sublinear_tf=True</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LinearSVC (C=0.5)</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LogisticRegression (saga)</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b="1" sz="14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729450" y="604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Baseline results (test = 100k)</a:t>
            </a:r>
            <a:endParaRPr>
              <a:solidFill>
                <a:schemeClr val="dk1"/>
              </a:solidFill>
            </a:endParaRPr>
          </a:p>
          <a:p>
            <a:pPr indent="0" lvl="0" marL="0" rtl="0" algn="l">
              <a:spcBef>
                <a:spcPts val="0"/>
              </a:spcBef>
              <a:spcAft>
                <a:spcPts val="0"/>
              </a:spcAft>
              <a:buNone/>
            </a:pPr>
            <a:r>
              <a:t/>
            </a:r>
            <a:endParaRPr/>
          </a:p>
        </p:txBody>
      </p:sp>
      <p:sp>
        <p:nvSpPr>
          <p:cNvPr id="218" name="Google Shape;218;p33"/>
          <p:cNvSpPr txBox="1"/>
          <p:nvPr>
            <p:ph idx="1" type="body"/>
          </p:nvPr>
        </p:nvSpPr>
        <p:spPr>
          <a:xfrm>
            <a:off x="297500" y="1378625"/>
            <a:ext cx="5093700" cy="12630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Linear SVM:</a:t>
            </a:r>
            <a:r>
              <a:rPr lang="en" sz="1400">
                <a:solidFill>
                  <a:srgbClr val="000000"/>
                </a:solidFill>
                <a:latin typeface="Arial"/>
                <a:ea typeface="Arial"/>
                <a:cs typeface="Arial"/>
                <a:sym typeface="Arial"/>
              </a:rPr>
              <a:t> Acc </a:t>
            </a:r>
            <a:r>
              <a:rPr b="1" lang="en" sz="1400">
                <a:solidFill>
                  <a:srgbClr val="000000"/>
                </a:solidFill>
                <a:latin typeface="Arial"/>
                <a:ea typeface="Arial"/>
                <a:cs typeface="Arial"/>
                <a:sym typeface="Arial"/>
              </a:rPr>
              <a:t>0.9272</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F1 0.9273</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95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LogReg:</a:t>
            </a:r>
            <a:r>
              <a:rPr lang="en" sz="1400">
                <a:solidFill>
                  <a:srgbClr val="000000"/>
                </a:solidFill>
                <a:latin typeface="Arial"/>
                <a:ea typeface="Arial"/>
                <a:cs typeface="Arial"/>
                <a:sym typeface="Arial"/>
              </a:rPr>
              <a:t> Acc </a:t>
            </a:r>
            <a:r>
              <a:rPr b="1" lang="en" sz="1400">
                <a:solidFill>
                  <a:srgbClr val="000000"/>
                </a:solidFill>
                <a:latin typeface="Arial"/>
                <a:ea typeface="Arial"/>
                <a:cs typeface="Arial"/>
                <a:sym typeface="Arial"/>
              </a:rPr>
              <a:t>0.9259</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F1 0.9259</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ROC‑AUC 0.9771</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95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Complement NB:</a:t>
            </a:r>
            <a:r>
              <a:rPr lang="en" sz="1400">
                <a:solidFill>
                  <a:srgbClr val="000000"/>
                </a:solidFill>
                <a:latin typeface="Arial"/>
                <a:ea typeface="Arial"/>
                <a:cs typeface="Arial"/>
                <a:sym typeface="Arial"/>
              </a:rPr>
              <a:t> Acc </a:t>
            </a:r>
            <a:r>
              <a:rPr b="1" lang="en" sz="1400">
                <a:solidFill>
                  <a:srgbClr val="000000"/>
                </a:solidFill>
                <a:latin typeface="Arial"/>
                <a:ea typeface="Arial"/>
                <a:cs typeface="Arial"/>
                <a:sym typeface="Arial"/>
              </a:rPr>
              <a:t>0.8936</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F1 0.8933</a:t>
            </a:r>
            <a:r>
              <a:rPr lang="en" sz="1400">
                <a:solidFill>
                  <a:srgbClr val="000000"/>
                </a:solidFill>
                <a:latin typeface="Arial"/>
                <a:ea typeface="Arial"/>
                <a:cs typeface="Arial"/>
                <a:sym typeface="Arial"/>
              </a:rPr>
              <a:t>, AUC </a:t>
            </a:r>
            <a:r>
              <a:rPr b="1" lang="en" sz="1400">
                <a:solidFill>
                  <a:srgbClr val="000000"/>
                </a:solidFill>
                <a:latin typeface="Arial"/>
                <a:ea typeface="Arial"/>
                <a:cs typeface="Arial"/>
                <a:sym typeface="Arial"/>
              </a:rPr>
              <a:t>0.959</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0" lvl="0" marL="0" rtl="0" algn="l">
              <a:lnSpc>
                <a:spcPct val="80000"/>
              </a:lnSpc>
              <a:spcBef>
                <a:spcPts val="1200"/>
              </a:spcBef>
              <a:spcAft>
                <a:spcPts val="0"/>
              </a:spcAft>
              <a:buSzPts val="852"/>
              <a:buNone/>
            </a:pPr>
            <a:r>
              <a:t/>
            </a:r>
            <a:endParaRPr b="1" sz="1085">
              <a:solidFill>
                <a:srgbClr val="000000"/>
              </a:solidFill>
              <a:latin typeface="Arial"/>
              <a:ea typeface="Arial"/>
              <a:cs typeface="Arial"/>
              <a:sym typeface="Arial"/>
            </a:endParaRPr>
          </a:p>
        </p:txBody>
      </p:sp>
      <p:pic>
        <p:nvPicPr>
          <p:cNvPr id="219" name="Google Shape;219;p33" title="confusion_matrix_complement_nb.png"/>
          <p:cNvPicPr preferRelativeResize="0"/>
          <p:nvPr/>
        </p:nvPicPr>
        <p:blipFill>
          <a:blip r:embed="rId3">
            <a:alphaModFix/>
          </a:blip>
          <a:stretch>
            <a:fillRect/>
          </a:stretch>
        </p:blipFill>
        <p:spPr>
          <a:xfrm>
            <a:off x="1472750" y="2879038"/>
            <a:ext cx="2743200" cy="2061218"/>
          </a:xfrm>
          <a:prstGeom prst="rect">
            <a:avLst/>
          </a:prstGeom>
          <a:noFill/>
          <a:ln>
            <a:noFill/>
          </a:ln>
        </p:spPr>
      </p:pic>
      <p:pic>
        <p:nvPicPr>
          <p:cNvPr id="220" name="Google Shape;220;p33" title="confusion_matrix_linear_svm.png"/>
          <p:cNvPicPr preferRelativeResize="0"/>
          <p:nvPr/>
        </p:nvPicPr>
        <p:blipFill>
          <a:blip r:embed="rId4">
            <a:alphaModFix/>
          </a:blip>
          <a:stretch>
            <a:fillRect/>
          </a:stretch>
        </p:blipFill>
        <p:spPr>
          <a:xfrm>
            <a:off x="5391200" y="815625"/>
            <a:ext cx="2743200" cy="2061218"/>
          </a:xfrm>
          <a:prstGeom prst="rect">
            <a:avLst/>
          </a:prstGeom>
          <a:noFill/>
          <a:ln>
            <a:noFill/>
          </a:ln>
        </p:spPr>
      </p:pic>
      <p:pic>
        <p:nvPicPr>
          <p:cNvPr id="221" name="Google Shape;221;p33" title="confusion_matrix_logreg.png"/>
          <p:cNvPicPr preferRelativeResize="0"/>
          <p:nvPr/>
        </p:nvPicPr>
        <p:blipFill>
          <a:blip r:embed="rId5">
            <a:alphaModFix/>
          </a:blip>
          <a:stretch>
            <a:fillRect/>
          </a:stretch>
        </p:blipFill>
        <p:spPr>
          <a:xfrm>
            <a:off x="5391200" y="2876850"/>
            <a:ext cx="2743200" cy="20655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729450" y="604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Ablation: Vectorizer tweaks</a:t>
            </a:r>
            <a:endParaRPr>
              <a:solidFill>
                <a:schemeClr val="dk1"/>
              </a:solidFill>
            </a:endParaRPr>
          </a:p>
          <a:p>
            <a:pPr indent="0" lvl="0" marL="0" rtl="0" algn="l">
              <a:spcBef>
                <a:spcPts val="0"/>
              </a:spcBef>
              <a:spcAft>
                <a:spcPts val="0"/>
              </a:spcAft>
              <a:buNone/>
            </a:pPr>
            <a:r>
              <a:t/>
            </a:r>
            <a:endParaRPr/>
          </a:p>
        </p:txBody>
      </p:sp>
      <p:sp>
        <p:nvSpPr>
          <p:cNvPr id="227" name="Google Shape;227;p34"/>
          <p:cNvSpPr txBox="1"/>
          <p:nvPr>
            <p:ph idx="1" type="body"/>
          </p:nvPr>
        </p:nvSpPr>
        <p:spPr>
          <a:xfrm>
            <a:off x="680375" y="1855650"/>
            <a:ext cx="4501500" cy="34359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Sublinear TF</a:t>
            </a:r>
            <a:r>
              <a:rPr lang="en" sz="1400">
                <a:solidFill>
                  <a:srgbClr val="000000"/>
                </a:solidFill>
                <a:latin typeface="Arial"/>
                <a:ea typeface="Arial"/>
                <a:cs typeface="Arial"/>
                <a:sym typeface="Arial"/>
              </a:rPr>
              <a:t> → consistent bump (SVM </a:t>
            </a:r>
            <a:r>
              <a:rPr b="1" lang="en" sz="1400">
                <a:solidFill>
                  <a:srgbClr val="000000"/>
                </a:solidFill>
                <a:latin typeface="Arial"/>
                <a:ea typeface="Arial"/>
                <a:cs typeface="Arial"/>
                <a:sym typeface="Arial"/>
              </a:rPr>
              <a:t>0.92735 → 0.92781</a:t>
            </a:r>
            <a:r>
              <a:rPr lang="en" sz="1400">
                <a:solidFill>
                  <a:srgbClr val="000000"/>
                </a:solidFill>
                <a:latin typeface="Arial"/>
                <a:ea typeface="Arial"/>
                <a:cs typeface="Arial"/>
                <a:sym typeface="Arial"/>
              </a:rPr>
              <a:t>; LR </a:t>
            </a:r>
            <a:r>
              <a:rPr b="1" lang="en" sz="1400">
                <a:solidFill>
                  <a:srgbClr val="000000"/>
                </a:solidFill>
                <a:latin typeface="Arial"/>
                <a:ea typeface="Arial"/>
                <a:cs typeface="Arial"/>
                <a:sym typeface="Arial"/>
              </a:rPr>
              <a:t>0.92594 → 0.92657</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Char 3–5‑grams</a:t>
            </a:r>
            <a:r>
              <a:rPr lang="en" sz="1400">
                <a:solidFill>
                  <a:srgbClr val="000000"/>
                </a:solidFill>
                <a:latin typeface="Arial"/>
                <a:ea typeface="Arial"/>
                <a:cs typeface="Arial"/>
                <a:sym typeface="Arial"/>
              </a:rPr>
              <a:t> competitive but below word uni+bi here (F1 ≈ </a:t>
            </a:r>
            <a:r>
              <a:rPr b="1" lang="en" sz="1400">
                <a:solidFill>
                  <a:srgbClr val="000000"/>
                </a:solidFill>
                <a:latin typeface="Arial"/>
                <a:ea typeface="Arial"/>
                <a:cs typeface="Arial"/>
                <a:sym typeface="Arial"/>
              </a:rPr>
              <a:t>0.90–0.903</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Decision:</a:t>
            </a:r>
            <a:r>
              <a:rPr lang="en" sz="1400">
                <a:solidFill>
                  <a:srgbClr val="000000"/>
                </a:solidFill>
                <a:latin typeface="Arial"/>
                <a:ea typeface="Arial"/>
                <a:cs typeface="Arial"/>
                <a:sym typeface="Arial"/>
              </a:rPr>
              <a:t> keep TF‑IDF uni+bi + </a:t>
            </a:r>
            <a:r>
              <a:rPr b="1" lang="en" sz="1400">
                <a:solidFill>
                  <a:srgbClr val="000000"/>
                </a:solidFill>
                <a:latin typeface="Arial"/>
                <a:ea typeface="Arial"/>
                <a:cs typeface="Arial"/>
                <a:sym typeface="Arial"/>
              </a:rPr>
              <a:t>sublinear_tf</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p>
        </p:txBody>
      </p:sp>
      <p:pic>
        <p:nvPicPr>
          <p:cNvPr id="228" name="Google Shape;228;p34" title="ablation_best_f1.png"/>
          <p:cNvPicPr preferRelativeResize="0"/>
          <p:nvPr/>
        </p:nvPicPr>
        <p:blipFill>
          <a:blip r:embed="rId3">
            <a:alphaModFix/>
          </a:blip>
          <a:stretch>
            <a:fillRect/>
          </a:stretch>
        </p:blipFill>
        <p:spPr>
          <a:xfrm>
            <a:off x="5674950" y="1855650"/>
            <a:ext cx="2743200" cy="2057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type="title"/>
          </p:nvPr>
        </p:nvSpPr>
        <p:spPr>
          <a:xfrm>
            <a:off x="729450" y="642950"/>
            <a:ext cx="7688700" cy="579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89"/>
              <a:buNone/>
            </a:pPr>
            <a:r>
              <a:rPr lang="en">
                <a:solidFill>
                  <a:schemeClr val="dk1"/>
                </a:solidFill>
              </a:rPr>
              <a:t>Tuned &amp; Calibrated model</a:t>
            </a:r>
            <a:endParaRPr>
              <a:solidFill>
                <a:schemeClr val="dk1"/>
              </a:solidFill>
            </a:endParaRPr>
          </a:p>
        </p:txBody>
      </p:sp>
      <p:sp>
        <p:nvSpPr>
          <p:cNvPr id="234" name="Google Shape;234;p35"/>
          <p:cNvSpPr txBox="1"/>
          <p:nvPr>
            <p:ph idx="1" type="body"/>
          </p:nvPr>
        </p:nvSpPr>
        <p:spPr>
          <a:xfrm>
            <a:off x="375000" y="1314450"/>
            <a:ext cx="8394000" cy="34767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Best C = 0.5</a:t>
            </a:r>
            <a:r>
              <a:rPr lang="en" sz="1400">
                <a:solidFill>
                  <a:srgbClr val="000000"/>
                </a:solidFill>
                <a:latin typeface="Arial"/>
                <a:ea typeface="Arial"/>
                <a:cs typeface="Arial"/>
                <a:sym typeface="Arial"/>
              </a:rPr>
              <a:t> (validation F1 </a:t>
            </a:r>
            <a:r>
              <a:rPr b="1" lang="en" sz="1400">
                <a:solidFill>
                  <a:srgbClr val="000000"/>
                </a:solidFill>
                <a:latin typeface="Arial"/>
                <a:ea typeface="Arial"/>
                <a:cs typeface="Arial"/>
                <a:sym typeface="Arial"/>
              </a:rPr>
              <a:t>0.9313</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Test (raw SVM): F1 0.9303</a:t>
            </a:r>
            <a:r>
              <a:rPr lang="en" sz="1400">
                <a:solidFill>
                  <a:srgbClr val="000000"/>
                </a:solidFill>
                <a:latin typeface="Arial"/>
                <a:ea typeface="Arial"/>
                <a:cs typeface="Arial"/>
                <a:sym typeface="Arial"/>
              </a:rPr>
              <a:t>, Acc </a:t>
            </a:r>
            <a:r>
              <a:rPr b="1" lang="en" sz="1400">
                <a:solidFill>
                  <a:srgbClr val="000000"/>
                </a:solidFill>
                <a:latin typeface="Arial"/>
                <a:ea typeface="Arial"/>
                <a:cs typeface="Arial"/>
                <a:sym typeface="Arial"/>
              </a:rPr>
              <a:t>0.9302</a:t>
            </a:r>
            <a:r>
              <a:rPr lang="en" sz="1400">
                <a:solidFill>
                  <a:srgbClr val="000000"/>
                </a:solidFill>
                <a:latin typeface="Arial"/>
                <a:ea typeface="Arial"/>
                <a:cs typeface="Arial"/>
                <a:sym typeface="Arial"/>
              </a:rPr>
              <a:t> (↑ from baseline 0.9273).</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Calibrated</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ROC‑AUC 0.9796</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PR‑AUC 0.9781</a:t>
            </a:r>
            <a:r>
              <a:rPr lang="en" sz="1400">
                <a:solidFill>
                  <a:srgbClr val="000000"/>
                </a:solidFill>
                <a:latin typeface="Arial"/>
                <a:ea typeface="Arial"/>
                <a:cs typeface="Arial"/>
                <a:sym typeface="Arial"/>
              </a:rPr>
              <a:t>; F1 </a:t>
            </a:r>
            <a:r>
              <a:rPr b="1" lang="en" sz="1400">
                <a:solidFill>
                  <a:srgbClr val="000000"/>
                </a:solidFill>
                <a:latin typeface="Arial"/>
                <a:ea typeface="Arial"/>
                <a:cs typeface="Arial"/>
                <a:sym typeface="Arial"/>
              </a:rPr>
              <a:t>0.9303</a:t>
            </a:r>
            <a:r>
              <a:rPr lang="en" sz="1400">
                <a:solidFill>
                  <a:srgbClr val="000000"/>
                </a:solidFill>
                <a:latin typeface="Arial"/>
                <a:ea typeface="Arial"/>
                <a:cs typeface="Arial"/>
                <a:sym typeface="Arial"/>
              </a:rPr>
              <a:t>.</a:t>
            </a:r>
            <a:endParaRPr b="1" sz="1400">
              <a:solidFill>
                <a:srgbClr val="000000"/>
              </a:solidFill>
              <a:latin typeface="Arial"/>
              <a:ea typeface="Arial"/>
              <a:cs typeface="Arial"/>
              <a:sym typeface="Arial"/>
            </a:endParaRPr>
          </a:p>
        </p:txBody>
      </p:sp>
      <p:pic>
        <p:nvPicPr>
          <p:cNvPr id="235" name="Google Shape;235;p35" title="tuned_svm_pr.png"/>
          <p:cNvPicPr preferRelativeResize="0"/>
          <p:nvPr/>
        </p:nvPicPr>
        <p:blipFill>
          <a:blip r:embed="rId3">
            <a:alphaModFix/>
          </a:blip>
          <a:stretch>
            <a:fillRect/>
          </a:stretch>
        </p:blipFill>
        <p:spPr>
          <a:xfrm>
            <a:off x="1098700" y="2571750"/>
            <a:ext cx="2743200" cy="2059229"/>
          </a:xfrm>
          <a:prstGeom prst="rect">
            <a:avLst/>
          </a:prstGeom>
          <a:noFill/>
          <a:ln>
            <a:noFill/>
          </a:ln>
        </p:spPr>
      </p:pic>
      <p:pic>
        <p:nvPicPr>
          <p:cNvPr id="236" name="Google Shape;236;p35" title="tuned_svm_roc.png"/>
          <p:cNvPicPr preferRelativeResize="0"/>
          <p:nvPr/>
        </p:nvPicPr>
        <p:blipFill>
          <a:blip r:embed="rId4">
            <a:alphaModFix/>
          </a:blip>
          <a:stretch>
            <a:fillRect/>
          </a:stretch>
        </p:blipFill>
        <p:spPr>
          <a:xfrm>
            <a:off x="4986225" y="2571750"/>
            <a:ext cx="2743200" cy="20592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729450" y="535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111111"/>
              <a:buFont typeface="Arial"/>
              <a:buNone/>
            </a:pPr>
            <a:r>
              <a:rPr lang="en">
                <a:solidFill>
                  <a:schemeClr val="dk1"/>
                </a:solidFill>
              </a:rPr>
              <a:t>Error Analysis</a:t>
            </a:r>
            <a:endParaRPr>
              <a:solidFill>
                <a:schemeClr val="dk1"/>
              </a:solidFill>
            </a:endParaRPr>
          </a:p>
          <a:p>
            <a:pPr indent="0" lvl="0" marL="0" rtl="0" algn="l">
              <a:spcBef>
                <a:spcPts val="0"/>
              </a:spcBef>
              <a:spcAft>
                <a:spcPts val="0"/>
              </a:spcAft>
              <a:buNone/>
            </a:pPr>
            <a:r>
              <a:t/>
            </a:r>
            <a:endParaRPr/>
          </a:p>
        </p:txBody>
      </p:sp>
      <p:sp>
        <p:nvSpPr>
          <p:cNvPr id="242" name="Google Shape;242;p36"/>
          <p:cNvSpPr txBox="1"/>
          <p:nvPr>
            <p:ph idx="1" type="body"/>
          </p:nvPr>
        </p:nvSpPr>
        <p:spPr>
          <a:xfrm>
            <a:off x="727650" y="1301425"/>
            <a:ext cx="7688700" cy="35553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Top false positives:</a:t>
            </a:r>
            <a:r>
              <a:rPr lang="en" sz="1400">
                <a:solidFill>
                  <a:srgbClr val="000000"/>
                </a:solidFill>
                <a:latin typeface="Arial"/>
                <a:ea typeface="Arial"/>
                <a:cs typeface="Arial"/>
                <a:sym typeface="Arial"/>
              </a:rPr>
              <a:t> overly enthusiastic wording in otherwise mixed reviews; off‑topic positives.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just">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Top false negatives:</a:t>
            </a:r>
            <a:r>
              <a:rPr lang="en" sz="1400">
                <a:solidFill>
                  <a:srgbClr val="000000"/>
                </a:solidFill>
                <a:latin typeface="Arial"/>
                <a:ea typeface="Arial"/>
                <a:cs typeface="Arial"/>
                <a:sym typeface="Arial"/>
              </a:rPr>
              <a:t> short, terse complaints; subtle/sarcastic negatives.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just">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Most uncertain:</a:t>
            </a:r>
            <a:r>
              <a:rPr lang="en" sz="1400">
                <a:solidFill>
                  <a:srgbClr val="000000"/>
                </a:solidFill>
                <a:latin typeface="Arial"/>
                <a:ea typeface="Arial"/>
                <a:cs typeface="Arial"/>
                <a:sym typeface="Arial"/>
              </a:rPr>
              <a:t> borderline language and mixed sentiment within the same review.</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just">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Action:</a:t>
            </a:r>
            <a:r>
              <a:rPr lang="en" sz="1400">
                <a:solidFill>
                  <a:srgbClr val="000000"/>
                </a:solidFill>
                <a:latin typeface="Arial"/>
                <a:ea typeface="Arial"/>
                <a:cs typeface="Arial"/>
                <a:sym typeface="Arial"/>
              </a:rPr>
              <a:t> add </a:t>
            </a:r>
            <a:r>
              <a:rPr b="1" lang="en" sz="1400">
                <a:solidFill>
                  <a:srgbClr val="000000"/>
                </a:solidFill>
                <a:latin typeface="Arial"/>
                <a:ea typeface="Arial"/>
                <a:cs typeface="Arial"/>
                <a:sym typeface="Arial"/>
              </a:rPr>
              <a:t>char n‑grams</a:t>
            </a:r>
            <a:r>
              <a:rPr lang="en" sz="1400">
                <a:solidFill>
                  <a:srgbClr val="000000"/>
                </a:solidFill>
                <a:latin typeface="Arial"/>
                <a:ea typeface="Arial"/>
                <a:cs typeface="Arial"/>
                <a:sym typeface="Arial"/>
              </a:rPr>
              <a:t> and expand stop‑words; consider </a:t>
            </a:r>
            <a:r>
              <a:rPr b="1" lang="en" sz="1400">
                <a:solidFill>
                  <a:srgbClr val="000000"/>
                </a:solidFill>
                <a:latin typeface="Arial"/>
                <a:ea typeface="Arial"/>
                <a:cs typeface="Arial"/>
                <a:sym typeface="Arial"/>
              </a:rPr>
              <a:t>class‑balanced thresholding</a:t>
            </a:r>
            <a:r>
              <a:rPr lang="en" sz="1400">
                <a:solidFill>
                  <a:srgbClr val="000000"/>
                </a:solidFill>
                <a:latin typeface="Arial"/>
                <a:ea typeface="Arial"/>
                <a:cs typeface="Arial"/>
                <a:sym typeface="Arial"/>
              </a:rPr>
              <a:t> with calibrated probabilities.</a:t>
            </a:r>
            <a:endParaRPr sz="1400">
              <a:solidFill>
                <a:srgbClr val="000000"/>
              </a:solidFill>
              <a:latin typeface="Arial"/>
              <a:ea typeface="Arial"/>
              <a:cs typeface="Arial"/>
              <a:sym typeface="Arial"/>
            </a:endParaRPr>
          </a:p>
          <a:p>
            <a:pPr indent="0" lvl="0" marL="0" rtl="0" algn="just">
              <a:spcBef>
                <a:spcPts val="0"/>
              </a:spcBef>
              <a:spcAft>
                <a:spcPts val="0"/>
              </a:spcAft>
              <a:buNone/>
            </a:pPr>
            <a:r>
              <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729450" y="6281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111111"/>
              <a:buFont typeface="Arial"/>
              <a:buNone/>
            </a:pPr>
            <a:r>
              <a:rPr lang="en">
                <a:solidFill>
                  <a:schemeClr val="dk1"/>
                </a:solidFill>
              </a:rPr>
              <a:t>RAG prototype (classical, offline)</a:t>
            </a:r>
            <a:endParaRPr>
              <a:solidFill>
                <a:schemeClr val="dk1"/>
              </a:solidFill>
            </a:endParaRPr>
          </a:p>
        </p:txBody>
      </p:sp>
      <p:sp>
        <p:nvSpPr>
          <p:cNvPr id="248" name="Google Shape;248;p37"/>
          <p:cNvSpPr txBox="1"/>
          <p:nvPr>
            <p:ph idx="1" type="body"/>
          </p:nvPr>
        </p:nvSpPr>
        <p:spPr>
          <a:xfrm>
            <a:off x="113175" y="1388000"/>
            <a:ext cx="5292300" cy="36717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b="1" lang="en" sz="1400">
                <a:solidFill>
                  <a:srgbClr val="000000"/>
                </a:solidFill>
                <a:latin typeface="Arial"/>
                <a:ea typeface="Arial"/>
                <a:cs typeface="Arial"/>
                <a:sym typeface="Arial"/>
              </a:rPr>
              <a:t>Issues spotted</a:t>
            </a:r>
            <a:endParaRPr b="1" sz="1400">
              <a:solidFill>
                <a:srgbClr val="000000"/>
              </a:solidFill>
              <a:latin typeface="Arial"/>
              <a:ea typeface="Arial"/>
              <a:cs typeface="Arial"/>
              <a:sym typeface="Arial"/>
            </a:endParaRPr>
          </a:p>
          <a:p>
            <a:pPr indent="-317500" lvl="0" marL="457200" rtl="0" algn="l">
              <a:lnSpc>
                <a:spcPct val="100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Lexical shortcuts; noisy/misspelled inputs.</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Keyword‑overlap proxy can bias P@k; we report both keyword‑only and synonym‑aware (phrase) metrics.</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Extractive summaries lack paraphrase quality.</a:t>
            </a:r>
            <a:endParaRPr sz="14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b="1" lang="en" sz="1400">
                <a:solidFill>
                  <a:srgbClr val="000000"/>
                </a:solidFill>
                <a:latin typeface="Arial"/>
                <a:ea typeface="Arial"/>
                <a:cs typeface="Arial"/>
                <a:sym typeface="Arial"/>
              </a:rPr>
              <a:t>Plan</a:t>
            </a:r>
            <a:endParaRPr b="1" sz="1400">
              <a:solidFill>
                <a:srgbClr val="000000"/>
              </a:solidFill>
              <a:latin typeface="Arial"/>
              <a:ea typeface="Arial"/>
              <a:cs typeface="Arial"/>
              <a:sym typeface="Arial"/>
            </a:endParaRPr>
          </a:p>
          <a:p>
            <a:pPr indent="-317500" lvl="0" marL="457200" rtl="0" algn="l">
              <a:lnSpc>
                <a:spcPct val="100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Curate qrels</a:t>
            </a:r>
            <a:r>
              <a:rPr lang="en" sz="1400">
                <a:solidFill>
                  <a:srgbClr val="000000"/>
                </a:solidFill>
                <a:latin typeface="Arial"/>
                <a:ea typeface="Arial"/>
                <a:cs typeface="Arial"/>
                <a:sym typeface="Arial"/>
              </a:rPr>
              <a:t> (10–20 queries) + write </a:t>
            </a:r>
            <a:r>
              <a:rPr b="1" lang="en" sz="1400">
                <a:solidFill>
                  <a:srgbClr val="000000"/>
                </a:solidFill>
                <a:latin typeface="Arial"/>
                <a:ea typeface="Arial"/>
                <a:cs typeface="Arial"/>
                <a:sym typeface="Arial"/>
              </a:rPr>
              <a:t>1–2 reference bullets</a:t>
            </a:r>
            <a:r>
              <a:rPr lang="en" sz="1400">
                <a:solidFill>
                  <a:srgbClr val="000000"/>
                </a:solidFill>
                <a:latin typeface="Arial"/>
                <a:ea typeface="Arial"/>
                <a:cs typeface="Arial"/>
                <a:sym typeface="Arial"/>
              </a:rPr>
              <a:t> each → re-run 04.</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Add a </a:t>
            </a:r>
            <a:r>
              <a:rPr b="1" lang="en" sz="1400">
                <a:solidFill>
                  <a:srgbClr val="000000"/>
                </a:solidFill>
                <a:latin typeface="Arial"/>
                <a:ea typeface="Arial"/>
                <a:cs typeface="Arial"/>
                <a:sym typeface="Arial"/>
              </a:rPr>
              <a:t>cross-encoder reranker</a:t>
            </a:r>
            <a:r>
              <a:rPr lang="en" sz="1400">
                <a:solidFill>
                  <a:srgbClr val="000000"/>
                </a:solidFill>
                <a:latin typeface="Arial"/>
                <a:ea typeface="Arial"/>
                <a:cs typeface="Arial"/>
                <a:sym typeface="Arial"/>
              </a:rPr>
              <a:t> (e.g., MiniLM-ce) on top of Hybrid.</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Scale training set / add </a:t>
            </a:r>
            <a:r>
              <a:rPr b="1" lang="en" sz="1400">
                <a:solidFill>
                  <a:srgbClr val="000000"/>
                </a:solidFill>
                <a:latin typeface="Arial"/>
                <a:ea typeface="Arial"/>
                <a:cs typeface="Arial"/>
                <a:sym typeface="Arial"/>
              </a:rPr>
              <a:t>char n-grams</a:t>
            </a:r>
            <a:r>
              <a:rPr lang="en" sz="1400">
                <a:solidFill>
                  <a:srgbClr val="000000"/>
                </a:solidFill>
                <a:latin typeface="Arial"/>
                <a:ea typeface="Arial"/>
                <a:cs typeface="Arial"/>
                <a:sym typeface="Arial"/>
              </a:rPr>
              <a:t> for baseline gains.</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Extend same RAG stack to </a:t>
            </a:r>
            <a:r>
              <a:rPr b="1" lang="en" sz="1400">
                <a:solidFill>
                  <a:srgbClr val="000000"/>
                </a:solidFill>
                <a:latin typeface="Arial"/>
                <a:ea typeface="Arial"/>
                <a:cs typeface="Arial"/>
                <a:sym typeface="Arial"/>
              </a:rPr>
              <a:t>Chess</a:t>
            </a:r>
            <a:r>
              <a:rPr lang="en" sz="1400">
                <a:solidFill>
                  <a:srgbClr val="000000"/>
                </a:solidFill>
                <a:latin typeface="Arial"/>
                <a:ea typeface="Arial"/>
                <a:cs typeface="Arial"/>
                <a:sym typeface="Arial"/>
              </a:rPr>
              <a:t> for CP-2 (PGN + commentary retrieval, opening trends, era summaries).</a:t>
            </a:r>
            <a:endParaRPr sz="1400"/>
          </a:p>
        </p:txBody>
      </p:sp>
      <p:sp>
        <p:nvSpPr>
          <p:cNvPr id="249" name="Google Shape;249;p37"/>
          <p:cNvSpPr txBox="1"/>
          <p:nvPr/>
        </p:nvSpPr>
        <p:spPr>
          <a:xfrm>
            <a:off x="5524500" y="1163300"/>
            <a:ext cx="3216000" cy="374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accent1"/>
                </a:solidFill>
                <a:latin typeface="Lato"/>
                <a:ea typeface="Lato"/>
                <a:cs typeface="Lato"/>
                <a:sym typeface="Lato"/>
              </a:rPr>
              <a:t>Q: battery life</a:t>
            </a:r>
            <a:endParaRPr b="1" sz="1100">
              <a:solidFill>
                <a:schemeClr val="accent1"/>
              </a:solidFill>
              <a:latin typeface="Lato"/>
              <a:ea typeface="Lato"/>
              <a:cs typeface="Lato"/>
              <a:sym typeface="Lato"/>
            </a:endParaRPr>
          </a:p>
          <a:p>
            <a:pPr indent="0" lvl="0" marL="0" rtl="0" algn="l">
              <a:spcBef>
                <a:spcPts val="0"/>
              </a:spcBef>
              <a:spcAft>
                <a:spcPts val="0"/>
              </a:spcAft>
              <a:buNone/>
            </a:pPr>
            <a:r>
              <a:rPr lang="en" sz="1100">
                <a:solidFill>
                  <a:schemeClr val="accent1"/>
                </a:solidFill>
                <a:latin typeface="Lato"/>
                <a:ea typeface="Lato"/>
                <a:cs typeface="Lato"/>
                <a:sym typeface="Lato"/>
              </a:rPr>
              <a:t>A: too much static battery life too low like others i get a lot of of static a couple of people mentioned battery life mine gets terrible battery life very good gps except battery life i am very happy to have this gps no major complaints except one i am using it from last one month and found out that its battery life is not as good as they say it though i dont use it more then also my battery goes off in 2 to 2 5 hours while i was told that battery life will be somehwere between 4 8 hrs </a:t>
            </a:r>
            <a:endParaRPr sz="1100">
              <a:solidFill>
                <a:schemeClr val="accent1"/>
              </a:solidFill>
              <a:latin typeface="Lato"/>
              <a:ea typeface="Lato"/>
              <a:cs typeface="Lato"/>
              <a:sym typeface="Lato"/>
            </a:endParaRPr>
          </a:p>
          <a:p>
            <a:pPr indent="0" lvl="0" marL="0" rtl="0" algn="l">
              <a:spcBef>
                <a:spcPts val="0"/>
              </a:spcBef>
              <a:spcAft>
                <a:spcPts val="0"/>
              </a:spcAft>
              <a:buNone/>
            </a:pPr>
            <a:r>
              <a:t/>
            </a:r>
            <a:endParaRPr sz="1100">
              <a:solidFill>
                <a:schemeClr val="accent1"/>
              </a:solidFill>
              <a:latin typeface="Lato"/>
              <a:ea typeface="Lato"/>
              <a:cs typeface="Lato"/>
              <a:sym typeface="Lato"/>
            </a:endParaRPr>
          </a:p>
          <a:p>
            <a:pPr indent="0" lvl="0" marL="0" rtl="0" algn="l">
              <a:spcBef>
                <a:spcPts val="0"/>
              </a:spcBef>
              <a:spcAft>
                <a:spcPts val="0"/>
              </a:spcAft>
              <a:buNone/>
            </a:pPr>
            <a:r>
              <a:rPr b="1" lang="en" sz="1100">
                <a:solidFill>
                  <a:schemeClr val="accent1"/>
                </a:solidFill>
                <a:latin typeface="Lato"/>
                <a:ea typeface="Lato"/>
                <a:cs typeface="Lato"/>
                <a:sym typeface="Lato"/>
              </a:rPr>
              <a:t>Q: screen quality</a:t>
            </a:r>
            <a:endParaRPr b="1" sz="1100">
              <a:solidFill>
                <a:schemeClr val="accent1"/>
              </a:solidFill>
              <a:latin typeface="Lato"/>
              <a:ea typeface="Lato"/>
              <a:cs typeface="Lato"/>
              <a:sym typeface="Lato"/>
            </a:endParaRPr>
          </a:p>
          <a:p>
            <a:pPr indent="0" lvl="0" marL="0" rtl="0" algn="l">
              <a:spcBef>
                <a:spcPts val="0"/>
              </a:spcBef>
              <a:spcAft>
                <a:spcPts val="0"/>
              </a:spcAft>
              <a:buNone/>
            </a:pPr>
            <a:r>
              <a:rPr lang="en" sz="1100">
                <a:solidFill>
                  <a:schemeClr val="accent1"/>
                </a:solidFill>
                <a:latin typeface="Lato"/>
                <a:ea typeface="Lato"/>
                <a:cs typeface="Lato"/>
                <a:sym typeface="Lato"/>
              </a:rPr>
              <a:t>A: mirror screen for iphone makes it harder to see the screen in the sunlight but it s easier to clean than the original screen or any other screen protector a really bad product it is too small for my sony clie 760c screen the edges are rounded on the screen protector while the clies screen is square leaving an uncovered area about as wide as the tip of the stylus </a:t>
            </a:r>
            <a:endParaRPr sz="11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729450" y="594750"/>
            <a:ext cx="76887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40">
                <a:solidFill>
                  <a:schemeClr val="dk1"/>
                </a:solidFill>
              </a:rPr>
              <a:t>Retrieval quality (two views)</a:t>
            </a:r>
            <a:endParaRPr sz="2440">
              <a:solidFill>
                <a:schemeClr val="dk1"/>
              </a:solidFill>
            </a:endParaRPr>
          </a:p>
        </p:txBody>
      </p:sp>
      <p:sp>
        <p:nvSpPr>
          <p:cNvPr id="255" name="Google Shape;255;p38"/>
          <p:cNvSpPr txBox="1"/>
          <p:nvPr>
            <p:ph idx="1" type="body"/>
          </p:nvPr>
        </p:nvSpPr>
        <p:spPr>
          <a:xfrm>
            <a:off x="452400" y="1362425"/>
            <a:ext cx="8239200" cy="3569100"/>
          </a:xfrm>
          <a:prstGeom prst="rect">
            <a:avLst/>
          </a:prstGeom>
          <a:noFill/>
          <a:ln>
            <a:noFill/>
          </a:ln>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Keyword‑only proxy (literal tokens):</a:t>
            </a:r>
            <a:r>
              <a:rPr lang="en" sz="1400">
                <a:solidFill>
                  <a:srgbClr val="000000"/>
                </a:solidFill>
                <a:latin typeface="Arial"/>
                <a:ea typeface="Arial"/>
                <a:cs typeface="Arial"/>
                <a:sym typeface="Arial"/>
              </a:rPr>
              <a:t> Macro </a:t>
            </a:r>
            <a:r>
              <a:rPr b="1" lang="en" sz="1400">
                <a:solidFill>
                  <a:srgbClr val="000000"/>
                </a:solidFill>
                <a:latin typeface="Arial"/>
                <a:ea typeface="Arial"/>
                <a:cs typeface="Arial"/>
                <a:sym typeface="Arial"/>
              </a:rPr>
              <a:t>P@1 0.80</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P@5 0.72</a:t>
            </a:r>
            <a:r>
              <a:rPr lang="en" sz="1400">
                <a:solidFill>
                  <a:srgbClr val="000000"/>
                </a:solidFill>
                <a:latin typeface="Arial"/>
                <a:ea typeface="Arial"/>
                <a:cs typeface="Arial"/>
                <a:sym typeface="Arial"/>
              </a:rPr>
              <a:t> (baseline). With expansion + bigram boost under the </a:t>
            </a:r>
            <a:r>
              <a:rPr i="1" lang="en" sz="1400">
                <a:solidFill>
                  <a:srgbClr val="000000"/>
                </a:solidFill>
                <a:latin typeface="Arial"/>
                <a:ea typeface="Arial"/>
                <a:cs typeface="Arial"/>
                <a:sym typeface="Arial"/>
              </a:rPr>
              <a:t>same</a:t>
            </a:r>
            <a:r>
              <a:rPr lang="en" sz="1400">
                <a:solidFill>
                  <a:srgbClr val="000000"/>
                </a:solidFill>
                <a:latin typeface="Arial"/>
                <a:ea typeface="Arial"/>
                <a:cs typeface="Arial"/>
                <a:sym typeface="Arial"/>
              </a:rPr>
              <a:t> proxy: macro </a:t>
            </a:r>
            <a:r>
              <a:rPr b="1" lang="en" sz="1400">
                <a:solidFill>
                  <a:srgbClr val="000000"/>
                </a:solidFill>
                <a:latin typeface="Arial"/>
                <a:ea typeface="Arial"/>
                <a:cs typeface="Arial"/>
                <a:sym typeface="Arial"/>
              </a:rPr>
              <a:t>P@1 0.50</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P@5 0.56</a:t>
            </a:r>
            <a:r>
              <a:rPr lang="en" sz="1400">
                <a:solidFill>
                  <a:srgbClr val="000000"/>
                </a:solidFill>
                <a:latin typeface="Arial"/>
                <a:ea typeface="Arial"/>
                <a:cs typeface="Arial"/>
                <a:sym typeface="Arial"/>
              </a:rPr>
              <a:t> → strict literal matching under‑credits synonyms like </a:t>
            </a:r>
            <a:r>
              <a:rPr i="1" lang="en" sz="1400">
                <a:solidFill>
                  <a:srgbClr val="000000"/>
                </a:solidFill>
                <a:latin typeface="Arial"/>
                <a:ea typeface="Arial"/>
                <a:cs typeface="Arial"/>
                <a:sym typeface="Arial"/>
              </a:rPr>
              <a:t>display/panel</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Synonym‑aware (phrase) proxy:</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Baseline → Improved:</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P@1: 0.667 → 0.778</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P@5: 0.578 → 0.756</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P@10: 0.567 → 0.722</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en" sz="1400">
                <a:solidFill>
                  <a:srgbClr val="000000"/>
                </a:solidFill>
                <a:latin typeface="Arial"/>
                <a:ea typeface="Arial"/>
                <a:cs typeface="Arial"/>
                <a:sym typeface="Arial"/>
              </a:rPr>
              <a:t>Takeaway:</a:t>
            </a:r>
            <a:r>
              <a:rPr lang="en" sz="1400">
                <a:solidFill>
                  <a:srgbClr val="000000"/>
                </a:solidFill>
                <a:latin typeface="Arial"/>
                <a:ea typeface="Arial"/>
                <a:cs typeface="Arial"/>
                <a:sym typeface="Arial"/>
              </a:rPr>
              <a:t> Under fairer, phrase‑level relevance, query expansion </a:t>
            </a:r>
            <a:r>
              <a:rPr b="1" lang="en" sz="1400">
                <a:solidFill>
                  <a:srgbClr val="000000"/>
                </a:solidFill>
                <a:latin typeface="Arial"/>
                <a:ea typeface="Arial"/>
                <a:cs typeface="Arial"/>
                <a:sym typeface="Arial"/>
              </a:rPr>
              <a:t>helps</a:t>
            </a:r>
            <a:r>
              <a:rPr lang="en" sz="1400">
                <a:solidFill>
                  <a:srgbClr val="000000"/>
                </a:solidFill>
                <a:latin typeface="Arial"/>
                <a:ea typeface="Arial"/>
                <a:cs typeface="Arial"/>
                <a:sym typeface="Arial"/>
              </a:rPr>
              <a:t>; under literal‑token scoring it can appear worse. We therefore report </a:t>
            </a:r>
            <a:r>
              <a:rPr b="1" lang="en" sz="1400">
                <a:solidFill>
                  <a:srgbClr val="000000"/>
                </a:solidFill>
                <a:latin typeface="Arial"/>
                <a:ea typeface="Arial"/>
                <a:cs typeface="Arial"/>
                <a:sym typeface="Arial"/>
              </a:rPr>
              <a:t>both</a:t>
            </a:r>
            <a:r>
              <a:rPr lang="en" sz="1400">
                <a:solidFill>
                  <a:srgbClr val="000000"/>
                </a:solidFill>
                <a:latin typeface="Arial"/>
                <a:ea typeface="Arial"/>
                <a:cs typeface="Arial"/>
                <a:sym typeface="Arial"/>
              </a:rPr>
              <a:t>.</a:t>
            </a:r>
            <a:br>
              <a:rPr lang="en" sz="1200">
                <a:solidFill>
                  <a:srgbClr val="000000"/>
                </a:solidFill>
                <a:latin typeface="Arial"/>
                <a:ea typeface="Arial"/>
                <a:cs typeface="Arial"/>
                <a:sym typeface="Arial"/>
              </a:rPr>
            </a:b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729450" y="6328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Qualitative examples</a:t>
            </a:r>
            <a:endParaRPr>
              <a:solidFill>
                <a:schemeClr val="dk1"/>
              </a:solidFill>
            </a:endParaRPr>
          </a:p>
        </p:txBody>
      </p:sp>
      <p:sp>
        <p:nvSpPr>
          <p:cNvPr id="261" name="Google Shape;261;p39"/>
          <p:cNvSpPr txBox="1"/>
          <p:nvPr>
            <p:ph idx="1" type="body"/>
          </p:nvPr>
        </p:nvSpPr>
        <p:spPr>
          <a:xfrm>
            <a:off x="321475" y="1304925"/>
            <a:ext cx="3226500" cy="3533700"/>
          </a:xfrm>
          <a:prstGeom prst="rect">
            <a:avLst/>
          </a:prstGeom>
          <a:noFill/>
          <a:ln>
            <a:noFill/>
          </a:ln>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Screen quality:</a:t>
            </a:r>
            <a:r>
              <a:rPr lang="en" sz="1400">
                <a:solidFill>
                  <a:srgbClr val="000000"/>
                </a:solidFill>
                <a:latin typeface="Arial"/>
                <a:ea typeface="Arial"/>
                <a:cs typeface="Arial"/>
                <a:sym typeface="Arial"/>
              </a:rPr>
              <a:t> improved retrieval surfaces “display/panel/resolution” passages; summary reads more on‑topic.</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Comfort &amp; fit:</a:t>
            </a:r>
            <a:r>
              <a:rPr lang="en" sz="1400">
                <a:solidFill>
                  <a:srgbClr val="000000"/>
                </a:solidFill>
                <a:latin typeface="Arial"/>
                <a:ea typeface="Arial"/>
                <a:cs typeface="Arial"/>
                <a:sym typeface="Arial"/>
              </a:rPr>
              <a:t> needs broader phrase list (e.g., </a:t>
            </a:r>
            <a:r>
              <a:rPr i="1" lang="en" sz="1400">
                <a:solidFill>
                  <a:srgbClr val="000000"/>
                </a:solidFill>
                <a:latin typeface="Arial"/>
                <a:ea typeface="Arial"/>
                <a:cs typeface="Arial"/>
                <a:sym typeface="Arial"/>
              </a:rPr>
              <a:t>true to size</a:t>
            </a:r>
            <a:r>
              <a:rPr lang="en" sz="1400">
                <a:solidFill>
                  <a:srgbClr val="000000"/>
                </a:solidFill>
                <a:latin typeface="Arial"/>
                <a:ea typeface="Arial"/>
                <a:cs typeface="Arial"/>
                <a:sym typeface="Arial"/>
              </a:rPr>
              <a:t>, </a:t>
            </a:r>
            <a:r>
              <a:rPr i="1" lang="en" sz="1400">
                <a:solidFill>
                  <a:srgbClr val="000000"/>
                </a:solidFill>
                <a:latin typeface="Arial"/>
                <a:ea typeface="Arial"/>
                <a:cs typeface="Arial"/>
                <a:sym typeface="Arial"/>
              </a:rPr>
              <a:t>comfortable fit</a:t>
            </a:r>
            <a:r>
              <a:rPr lang="en" sz="1400">
                <a:solidFill>
                  <a:srgbClr val="000000"/>
                </a:solidFill>
                <a:latin typeface="Arial"/>
                <a:ea typeface="Arial"/>
                <a:cs typeface="Arial"/>
                <a:sym typeface="Arial"/>
              </a:rPr>
              <a:t>, </a:t>
            </a:r>
            <a:r>
              <a:rPr i="1" lang="en" sz="1400">
                <a:solidFill>
                  <a:srgbClr val="000000"/>
                </a:solidFill>
                <a:latin typeface="Arial"/>
                <a:ea typeface="Arial"/>
                <a:cs typeface="Arial"/>
                <a:sym typeface="Arial"/>
              </a:rPr>
              <a:t>runs small</a:t>
            </a:r>
            <a:r>
              <a:rPr lang="en" sz="1400">
                <a:solidFill>
                  <a:srgbClr val="000000"/>
                </a:solidFill>
                <a:latin typeface="Arial"/>
                <a:ea typeface="Arial"/>
                <a:cs typeface="Arial"/>
                <a:sym typeface="Arial"/>
              </a:rPr>
              <a:t>).</a:t>
            </a:r>
            <a:endParaRPr b="1" sz="1400">
              <a:solidFill>
                <a:srgbClr val="000000"/>
              </a:solidFill>
              <a:latin typeface="Arial"/>
              <a:ea typeface="Arial"/>
              <a:cs typeface="Arial"/>
              <a:sym typeface="Arial"/>
            </a:endParaRPr>
          </a:p>
        </p:txBody>
      </p:sp>
      <p:sp>
        <p:nvSpPr>
          <p:cNvPr id="262" name="Google Shape;262;p39"/>
          <p:cNvSpPr txBox="1"/>
          <p:nvPr>
            <p:ph idx="1" type="body"/>
          </p:nvPr>
        </p:nvSpPr>
        <p:spPr>
          <a:xfrm>
            <a:off x="4026925" y="1304925"/>
            <a:ext cx="4545600" cy="35337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rPr b="1" lang="en" sz="1022">
                <a:solidFill>
                  <a:srgbClr val="000000"/>
                </a:solidFill>
                <a:latin typeface="Arial"/>
                <a:ea typeface="Arial"/>
                <a:cs typeface="Arial"/>
                <a:sym typeface="Arial"/>
              </a:rPr>
              <a:t>Q: screen quality</a:t>
            </a:r>
            <a:endParaRPr b="1" sz="1022">
              <a:solidFill>
                <a:srgbClr val="000000"/>
              </a:solidFill>
              <a:latin typeface="Arial"/>
              <a:ea typeface="Arial"/>
              <a:cs typeface="Arial"/>
              <a:sym typeface="Arial"/>
            </a:endParaRPr>
          </a:p>
          <a:p>
            <a:pPr indent="0" lvl="0" marL="0" rtl="0" algn="just">
              <a:spcBef>
                <a:spcPts val="1200"/>
              </a:spcBef>
              <a:spcAft>
                <a:spcPts val="0"/>
              </a:spcAft>
              <a:buNone/>
            </a:pPr>
            <a:r>
              <a:rPr lang="en" sz="1022">
                <a:solidFill>
                  <a:srgbClr val="000000"/>
                </a:solidFill>
                <a:latin typeface="Arial"/>
                <a:ea typeface="Arial"/>
                <a:cs typeface="Arial"/>
                <a:sym typeface="Arial"/>
              </a:rPr>
              <a:t>Improved: </a:t>
            </a:r>
            <a:r>
              <a:rPr lang="en" sz="1100">
                <a:solidFill>
                  <a:srgbClr val="000000"/>
                </a:solidFill>
                <a:latin typeface="Arial"/>
                <a:ea typeface="Arial"/>
                <a:cs typeface="Arial"/>
                <a:sym typeface="Arial"/>
              </a:rPr>
              <a:t>The mirror </a:t>
            </a:r>
            <a:r>
              <a:rPr b="1" lang="en" sz="1100">
                <a:solidFill>
                  <a:srgbClr val="000000"/>
                </a:solidFill>
                <a:latin typeface="Arial"/>
                <a:ea typeface="Arial"/>
                <a:cs typeface="Arial"/>
                <a:sym typeface="Arial"/>
              </a:rPr>
              <a:t>screen</a:t>
            </a:r>
            <a:r>
              <a:rPr lang="en" sz="1100">
                <a:solidFill>
                  <a:srgbClr val="000000"/>
                </a:solidFill>
                <a:latin typeface="Arial"/>
                <a:ea typeface="Arial"/>
                <a:cs typeface="Arial"/>
                <a:sym typeface="Arial"/>
              </a:rPr>
              <a:t> protector creates heavy </a:t>
            </a:r>
            <a:r>
              <a:rPr b="1" lang="en" sz="1100">
                <a:solidFill>
                  <a:srgbClr val="000000"/>
                </a:solidFill>
                <a:latin typeface="Arial"/>
                <a:ea typeface="Arial"/>
                <a:cs typeface="Arial"/>
                <a:sym typeface="Arial"/>
              </a:rPr>
              <a:t>glare</a:t>
            </a:r>
            <a:r>
              <a:rPr lang="en" sz="1100">
                <a:solidFill>
                  <a:srgbClr val="000000"/>
                </a:solidFill>
                <a:latin typeface="Arial"/>
                <a:ea typeface="Arial"/>
                <a:cs typeface="Arial"/>
                <a:sym typeface="Arial"/>
              </a:rPr>
              <a:t>, making the </a:t>
            </a:r>
            <a:r>
              <a:rPr b="1" lang="en" sz="1100">
                <a:solidFill>
                  <a:srgbClr val="000000"/>
                </a:solidFill>
                <a:latin typeface="Arial"/>
                <a:ea typeface="Arial"/>
                <a:cs typeface="Arial"/>
                <a:sym typeface="Arial"/>
              </a:rPr>
              <a:t>display</a:t>
            </a:r>
            <a:r>
              <a:rPr lang="en" sz="1100">
                <a:solidFill>
                  <a:srgbClr val="000000"/>
                </a:solidFill>
                <a:latin typeface="Arial"/>
                <a:ea typeface="Arial"/>
                <a:cs typeface="Arial"/>
                <a:sym typeface="Arial"/>
              </a:rPr>
              <a:t> hard to see in </a:t>
            </a:r>
            <a:r>
              <a:rPr b="1" lang="en" sz="1100">
                <a:solidFill>
                  <a:srgbClr val="000000"/>
                </a:solidFill>
                <a:latin typeface="Arial"/>
                <a:ea typeface="Arial"/>
                <a:cs typeface="Arial"/>
                <a:sym typeface="Arial"/>
              </a:rPr>
              <a:t>sunlight</a:t>
            </a:r>
            <a:r>
              <a:rPr lang="en" sz="1100">
                <a:solidFill>
                  <a:srgbClr val="000000"/>
                </a:solidFill>
                <a:latin typeface="Arial"/>
                <a:ea typeface="Arial"/>
                <a:cs typeface="Arial"/>
                <a:sym typeface="Arial"/>
              </a:rPr>
              <a:t>. Poor </a:t>
            </a:r>
            <a:r>
              <a:rPr b="1" lang="en" sz="1100">
                <a:solidFill>
                  <a:srgbClr val="000000"/>
                </a:solidFill>
                <a:latin typeface="Arial"/>
                <a:ea typeface="Arial"/>
                <a:cs typeface="Arial"/>
                <a:sym typeface="Arial"/>
              </a:rPr>
              <a:t>fit/edge coverage</a:t>
            </a:r>
            <a:r>
              <a:rPr lang="en" sz="1100">
                <a:solidFill>
                  <a:srgbClr val="000000"/>
                </a:solidFill>
                <a:latin typeface="Arial"/>
                <a:ea typeface="Arial"/>
                <a:cs typeface="Arial"/>
                <a:sym typeface="Arial"/>
              </a:rPr>
              <a:t>—rounded corners leave part of the screen exposed—further hurts perceived screen quality.</a:t>
            </a:r>
            <a:endParaRPr sz="1022">
              <a:solidFill>
                <a:srgbClr val="000000"/>
              </a:solidFill>
              <a:latin typeface="Arial"/>
              <a:ea typeface="Arial"/>
              <a:cs typeface="Arial"/>
              <a:sym typeface="Arial"/>
            </a:endParaRPr>
          </a:p>
          <a:p>
            <a:pPr indent="0" lvl="0" marL="0" rtl="0" algn="just">
              <a:spcBef>
                <a:spcPts val="1200"/>
              </a:spcBef>
              <a:spcAft>
                <a:spcPts val="0"/>
              </a:spcAft>
              <a:buNone/>
            </a:pPr>
            <a:r>
              <a:rPr b="1" lang="en" sz="1022">
                <a:solidFill>
                  <a:srgbClr val="000000"/>
                </a:solidFill>
                <a:latin typeface="Arial"/>
                <a:ea typeface="Arial"/>
                <a:cs typeface="Arial"/>
                <a:sym typeface="Arial"/>
              </a:rPr>
              <a:t>Q: comfort and fit</a:t>
            </a:r>
            <a:endParaRPr b="1" sz="1022">
              <a:solidFill>
                <a:srgbClr val="000000"/>
              </a:solidFill>
              <a:latin typeface="Arial"/>
              <a:ea typeface="Arial"/>
              <a:cs typeface="Arial"/>
              <a:sym typeface="Arial"/>
            </a:endParaRPr>
          </a:p>
          <a:p>
            <a:pPr indent="0" lvl="0" marL="0" rtl="0" algn="just">
              <a:spcBef>
                <a:spcPts val="1200"/>
              </a:spcBef>
              <a:spcAft>
                <a:spcPts val="1200"/>
              </a:spcAft>
              <a:buNone/>
            </a:pPr>
            <a:r>
              <a:rPr lang="en" sz="1022">
                <a:solidFill>
                  <a:srgbClr val="000000"/>
                </a:solidFill>
                <a:latin typeface="Arial"/>
                <a:ea typeface="Arial"/>
                <a:cs typeface="Arial"/>
                <a:sym typeface="Arial"/>
              </a:rPr>
              <a:t>Improved: </a:t>
            </a:r>
            <a:r>
              <a:rPr i="1" lang="en" sz="1100">
                <a:solidFill>
                  <a:srgbClr val="000000"/>
                </a:solidFill>
                <a:latin typeface="Arial"/>
                <a:ea typeface="Arial"/>
                <a:cs typeface="Arial"/>
                <a:sym typeface="Arial"/>
              </a:rPr>
              <a:t>Users praise a </a:t>
            </a:r>
            <a:r>
              <a:rPr b="1" i="1" lang="en" sz="1100">
                <a:solidFill>
                  <a:srgbClr val="000000"/>
                </a:solidFill>
                <a:latin typeface="Arial"/>
                <a:ea typeface="Arial"/>
                <a:cs typeface="Arial"/>
                <a:sym typeface="Arial"/>
              </a:rPr>
              <a:t>comfortable fit</a:t>
            </a:r>
            <a:r>
              <a:rPr i="1" lang="en" sz="1100">
                <a:solidFill>
                  <a:srgbClr val="000000"/>
                </a:solidFill>
                <a:latin typeface="Arial"/>
                <a:ea typeface="Arial"/>
                <a:cs typeface="Arial"/>
                <a:sym typeface="Arial"/>
              </a:rPr>
              <a:t> and overall comfort for the earphones. The main trade‑off noted is weaker </a:t>
            </a:r>
            <a:r>
              <a:rPr b="1" i="1" lang="en" sz="1100">
                <a:solidFill>
                  <a:srgbClr val="000000"/>
                </a:solidFill>
                <a:latin typeface="Arial"/>
                <a:ea typeface="Arial"/>
                <a:cs typeface="Arial"/>
                <a:sym typeface="Arial"/>
              </a:rPr>
              <a:t>noise reduction</a:t>
            </a:r>
            <a:r>
              <a:rPr i="1" lang="en" sz="1100">
                <a:solidFill>
                  <a:srgbClr val="000000"/>
                </a:solidFill>
                <a:latin typeface="Arial"/>
                <a:ea typeface="Arial"/>
                <a:cs typeface="Arial"/>
                <a:sym typeface="Arial"/>
              </a:rPr>
              <a:t>, so comfort comes at the expense of isolation.</a:t>
            </a:r>
            <a:endParaRPr sz="1022">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ph type="title"/>
          </p:nvPr>
        </p:nvSpPr>
        <p:spPr>
          <a:xfrm>
            <a:off x="308500" y="604300"/>
            <a:ext cx="43848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Results &amp; Takeaways - CP1</a:t>
            </a:r>
            <a:endParaRPr>
              <a:solidFill>
                <a:schemeClr val="dk1"/>
              </a:solidFill>
            </a:endParaRPr>
          </a:p>
          <a:p>
            <a:pPr indent="0" lvl="0" marL="0" rtl="0" algn="l">
              <a:spcBef>
                <a:spcPts val="0"/>
              </a:spcBef>
              <a:spcAft>
                <a:spcPts val="0"/>
              </a:spcAft>
              <a:buNone/>
            </a:pPr>
            <a:r>
              <a:t/>
            </a:r>
            <a:endParaRPr/>
          </a:p>
        </p:txBody>
      </p:sp>
      <p:sp>
        <p:nvSpPr>
          <p:cNvPr id="268" name="Google Shape;268;p40"/>
          <p:cNvSpPr txBox="1"/>
          <p:nvPr>
            <p:ph idx="1" type="body"/>
          </p:nvPr>
        </p:nvSpPr>
        <p:spPr>
          <a:xfrm>
            <a:off x="137500" y="1139500"/>
            <a:ext cx="4726800" cy="3799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Classification (best):</a:t>
            </a:r>
            <a:r>
              <a:rPr lang="en" sz="1400">
                <a:solidFill>
                  <a:srgbClr val="000000"/>
                </a:solidFill>
                <a:latin typeface="Arial"/>
                <a:ea typeface="Arial"/>
                <a:cs typeface="Arial"/>
                <a:sym typeface="Arial"/>
              </a:rPr>
              <a:t> Linear SVM (C=0.5) — </a:t>
            </a:r>
            <a:r>
              <a:rPr b="1" lang="en" sz="1400">
                <a:solidFill>
                  <a:srgbClr val="000000"/>
                </a:solidFill>
                <a:latin typeface="Arial"/>
                <a:ea typeface="Arial"/>
                <a:cs typeface="Arial"/>
                <a:sym typeface="Arial"/>
              </a:rPr>
              <a:t>F1 0.930</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Acc 0.930</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Calibrated ROC‑AUC 0.980</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PR‑AUC 0.978</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Retrieval:</a:t>
            </a:r>
            <a:r>
              <a:rPr lang="en" sz="1400">
                <a:solidFill>
                  <a:srgbClr val="000000"/>
                </a:solidFill>
                <a:latin typeface="Arial"/>
                <a:ea typeface="Arial"/>
                <a:cs typeface="Arial"/>
                <a:sym typeface="Arial"/>
              </a:rPr>
              <a:t> </a:t>
            </a:r>
            <a:r>
              <a:rPr b="1" lang="en" sz="1400">
                <a:solidFill>
                  <a:srgbClr val="000000"/>
                </a:solidFill>
                <a:latin typeface="Arial"/>
                <a:ea typeface="Arial"/>
                <a:cs typeface="Arial"/>
                <a:sym typeface="Arial"/>
              </a:rPr>
              <a:t>Keyword‑only macro</a:t>
            </a:r>
            <a:r>
              <a:rPr lang="en" sz="1400">
                <a:solidFill>
                  <a:srgbClr val="000000"/>
                </a:solidFill>
                <a:latin typeface="Arial"/>
                <a:ea typeface="Arial"/>
                <a:cs typeface="Arial"/>
                <a:sym typeface="Arial"/>
              </a:rPr>
              <a:t> - P@1 0.80, P@5 0.72.</a:t>
            </a:r>
            <a:r>
              <a:rPr b="1" lang="en" sz="1400">
                <a:solidFill>
                  <a:srgbClr val="000000"/>
                </a:solidFill>
                <a:latin typeface="Arial"/>
                <a:ea typeface="Arial"/>
                <a:cs typeface="Arial"/>
                <a:sym typeface="Arial"/>
              </a:rPr>
              <a:t>Synonym‑aware (phrase)</a:t>
            </a:r>
            <a:r>
              <a:rPr lang="en" sz="1400">
                <a:solidFill>
                  <a:srgbClr val="000000"/>
                </a:solidFill>
                <a:latin typeface="Arial"/>
                <a:ea typeface="Arial"/>
                <a:cs typeface="Arial"/>
                <a:sym typeface="Arial"/>
              </a:rPr>
              <a:t> macro - P@1 0.78, P@5 0.76, P@10 0.72 (with query expansion + bigram boost).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Takeaways:</a:t>
            </a:r>
            <a:r>
              <a:rPr lang="en" sz="1400">
                <a:solidFill>
                  <a:srgbClr val="000000"/>
                </a:solidFill>
                <a:latin typeface="Arial"/>
                <a:ea typeface="Arial"/>
                <a:cs typeface="Arial"/>
                <a:sym typeface="Arial"/>
              </a:rPr>
              <a:t> TF‑IDF + linear models are strong; calibration gives reliable probabilities; classical RAG is already useful; CP‑2 will add </a:t>
            </a:r>
            <a:r>
              <a:rPr b="1" lang="en" sz="1400">
                <a:solidFill>
                  <a:srgbClr val="000000"/>
                </a:solidFill>
                <a:latin typeface="Arial"/>
                <a:ea typeface="Arial"/>
                <a:cs typeface="Arial"/>
                <a:sym typeface="Arial"/>
              </a:rPr>
              <a:t>dense retrieval (SBERT)</a:t>
            </a:r>
            <a:r>
              <a:rPr lang="en" sz="1400">
                <a:solidFill>
                  <a:srgbClr val="000000"/>
                </a:solidFill>
                <a:latin typeface="Arial"/>
                <a:ea typeface="Arial"/>
                <a:cs typeface="Arial"/>
                <a:sym typeface="Arial"/>
              </a:rPr>
              <a:t> and </a:t>
            </a:r>
            <a:r>
              <a:rPr b="1" lang="en" sz="1400">
                <a:solidFill>
                  <a:srgbClr val="000000"/>
                </a:solidFill>
                <a:latin typeface="Arial"/>
                <a:ea typeface="Arial"/>
                <a:cs typeface="Arial"/>
                <a:sym typeface="Arial"/>
              </a:rPr>
              <a:t>ROUGE</a:t>
            </a:r>
            <a:r>
              <a:rPr lang="en" sz="1400">
                <a:solidFill>
                  <a:srgbClr val="000000"/>
                </a:solidFill>
                <a:latin typeface="Arial"/>
                <a:ea typeface="Arial"/>
                <a:cs typeface="Arial"/>
                <a:sym typeface="Arial"/>
              </a:rPr>
              <a:t> for summaries (as planned in the pitch’s evaluation roadmap).</a:t>
            </a:r>
            <a:endParaRPr b="1" sz="1400">
              <a:solidFill>
                <a:srgbClr val="000000"/>
              </a:solidFill>
              <a:latin typeface="Arial"/>
              <a:ea typeface="Arial"/>
              <a:cs typeface="Arial"/>
              <a:sym typeface="Arial"/>
            </a:endParaRPr>
          </a:p>
        </p:txBody>
      </p:sp>
      <p:pic>
        <p:nvPicPr>
          <p:cNvPr id="269" name="Google Shape;269;p40" title="retrieval_pk_bar.png"/>
          <p:cNvPicPr preferRelativeResize="0"/>
          <p:nvPr/>
        </p:nvPicPr>
        <p:blipFill>
          <a:blip r:embed="rId3">
            <a:alphaModFix/>
          </a:blip>
          <a:stretch>
            <a:fillRect/>
          </a:stretch>
        </p:blipFill>
        <p:spPr>
          <a:xfrm>
            <a:off x="5112600" y="3188047"/>
            <a:ext cx="3657600" cy="1367942"/>
          </a:xfrm>
          <a:prstGeom prst="rect">
            <a:avLst/>
          </a:prstGeom>
          <a:noFill/>
          <a:ln>
            <a:noFill/>
          </a:ln>
        </p:spPr>
      </p:pic>
      <p:pic>
        <p:nvPicPr>
          <p:cNvPr id="270" name="Google Shape;270;p40" title="tuned_svm_pr.png"/>
          <p:cNvPicPr preferRelativeResize="0"/>
          <p:nvPr/>
        </p:nvPicPr>
        <p:blipFill>
          <a:blip r:embed="rId4">
            <a:alphaModFix/>
          </a:blip>
          <a:stretch>
            <a:fillRect/>
          </a:stretch>
        </p:blipFill>
        <p:spPr>
          <a:xfrm>
            <a:off x="5569800" y="890050"/>
            <a:ext cx="2743200" cy="2057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type="title"/>
          </p:nvPr>
        </p:nvSpPr>
        <p:spPr>
          <a:xfrm>
            <a:off x="727650" y="675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Threats to Validity (CP-1)</a:t>
            </a:r>
            <a:endParaRPr/>
          </a:p>
        </p:txBody>
      </p:sp>
      <p:sp>
        <p:nvSpPr>
          <p:cNvPr id="276" name="Google Shape;276;p41"/>
          <p:cNvSpPr txBox="1"/>
          <p:nvPr>
            <p:ph idx="1" type="body"/>
          </p:nvPr>
        </p:nvSpPr>
        <p:spPr>
          <a:xfrm>
            <a:off x="727650" y="1441200"/>
            <a:ext cx="7688700" cy="32856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Labeling rule:</a:t>
            </a:r>
            <a:r>
              <a:rPr lang="en" sz="1400">
                <a:solidFill>
                  <a:srgbClr val="000000"/>
                </a:solidFill>
                <a:latin typeface="Arial"/>
                <a:ea typeface="Arial"/>
                <a:cs typeface="Arial"/>
                <a:sym typeface="Arial"/>
              </a:rPr>
              <a:t> Only ratings </a:t>
            </a:r>
            <a:r>
              <a:rPr b="1" lang="en" sz="1400">
                <a:solidFill>
                  <a:srgbClr val="000000"/>
                </a:solidFill>
                <a:latin typeface="Arial"/>
                <a:ea typeface="Arial"/>
                <a:cs typeface="Arial"/>
                <a:sym typeface="Arial"/>
              </a:rPr>
              <a:t>1–2</a:t>
            </a:r>
            <a:r>
              <a:rPr lang="en" sz="1400">
                <a:solidFill>
                  <a:srgbClr val="000000"/>
                </a:solidFill>
                <a:latin typeface="Arial"/>
                <a:ea typeface="Arial"/>
                <a:cs typeface="Arial"/>
                <a:sym typeface="Arial"/>
              </a:rPr>
              <a:t> (neg) and </a:t>
            </a:r>
            <a:r>
              <a:rPr b="1" lang="en" sz="1400">
                <a:solidFill>
                  <a:srgbClr val="000000"/>
                </a:solidFill>
                <a:latin typeface="Arial"/>
                <a:ea typeface="Arial"/>
                <a:cs typeface="Arial"/>
                <a:sym typeface="Arial"/>
              </a:rPr>
              <a:t>4–5</a:t>
            </a:r>
            <a:r>
              <a:rPr lang="en" sz="1400">
                <a:solidFill>
                  <a:srgbClr val="000000"/>
                </a:solidFill>
                <a:latin typeface="Arial"/>
                <a:ea typeface="Arial"/>
                <a:cs typeface="Arial"/>
                <a:sym typeface="Arial"/>
              </a:rPr>
              <a:t> (pos) are used; </a:t>
            </a:r>
            <a:r>
              <a:rPr b="1" lang="en" sz="1400">
                <a:solidFill>
                  <a:srgbClr val="000000"/>
                </a:solidFill>
                <a:latin typeface="Arial"/>
                <a:ea typeface="Arial"/>
                <a:cs typeface="Arial"/>
                <a:sym typeface="Arial"/>
              </a:rPr>
              <a:t>3‑star</a:t>
            </a:r>
            <a:r>
              <a:rPr lang="en" sz="1400">
                <a:solidFill>
                  <a:srgbClr val="000000"/>
                </a:solidFill>
                <a:latin typeface="Arial"/>
                <a:ea typeface="Arial"/>
                <a:cs typeface="Arial"/>
                <a:sym typeface="Arial"/>
              </a:rPr>
              <a:t> reviews are </a:t>
            </a:r>
            <a:r>
              <a:rPr b="1" lang="en" sz="1400">
                <a:solidFill>
                  <a:srgbClr val="000000"/>
                </a:solidFill>
                <a:latin typeface="Arial"/>
                <a:ea typeface="Arial"/>
                <a:cs typeface="Arial"/>
                <a:sym typeface="Arial"/>
              </a:rPr>
              <a:t>excluded</a:t>
            </a:r>
            <a:r>
              <a:rPr lang="en" sz="1400">
                <a:solidFill>
                  <a:srgbClr val="000000"/>
                </a:solidFill>
                <a:latin typeface="Arial"/>
                <a:ea typeface="Arial"/>
                <a:cs typeface="Arial"/>
                <a:sym typeface="Arial"/>
              </a:rPr>
              <a:t> → class separation may be slightly cleaner than in the wild.</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Temporal scope:</a:t>
            </a:r>
            <a:r>
              <a:rPr lang="en" sz="1400">
                <a:solidFill>
                  <a:srgbClr val="000000"/>
                </a:solidFill>
                <a:latin typeface="Arial"/>
                <a:ea typeface="Arial"/>
                <a:cs typeface="Arial"/>
                <a:sym typeface="Arial"/>
              </a:rPr>
              <a:t> Data up to </a:t>
            </a:r>
            <a:r>
              <a:rPr b="1" lang="en" sz="1400">
                <a:solidFill>
                  <a:srgbClr val="000000"/>
                </a:solidFill>
                <a:latin typeface="Arial"/>
                <a:ea typeface="Arial"/>
                <a:cs typeface="Arial"/>
                <a:sym typeface="Arial"/>
              </a:rPr>
              <a:t>2013</a:t>
            </a:r>
            <a:r>
              <a:rPr lang="en" sz="1400">
                <a:solidFill>
                  <a:srgbClr val="000000"/>
                </a:solidFill>
                <a:latin typeface="Arial"/>
                <a:ea typeface="Arial"/>
                <a:cs typeface="Arial"/>
                <a:sym typeface="Arial"/>
              </a:rPr>
              <a:t>; language drift may affect generalization to newer reviews.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No product IDs</a:t>
            </a:r>
            <a:r>
              <a:rPr lang="en" sz="1400">
                <a:solidFill>
                  <a:srgbClr val="000000"/>
                </a:solidFill>
                <a:latin typeface="Arial"/>
                <a:ea typeface="Arial"/>
                <a:cs typeface="Arial"/>
                <a:sym typeface="Arial"/>
              </a:rPr>
              <a:t> in the polarity subset → we demonstrate </a:t>
            </a:r>
            <a:r>
              <a:rPr b="1" lang="en" sz="1400">
                <a:solidFill>
                  <a:srgbClr val="000000"/>
                </a:solidFill>
                <a:latin typeface="Arial"/>
                <a:ea typeface="Arial"/>
                <a:cs typeface="Arial"/>
                <a:sym typeface="Arial"/>
              </a:rPr>
              <a:t>topic‑level</a:t>
            </a:r>
            <a:r>
              <a:rPr lang="en" sz="1400">
                <a:solidFill>
                  <a:srgbClr val="000000"/>
                </a:solidFill>
                <a:latin typeface="Arial"/>
                <a:ea typeface="Arial"/>
                <a:cs typeface="Arial"/>
                <a:sym typeface="Arial"/>
              </a:rPr>
              <a:t> RAG, not per‑product opinion mining.</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Proxy relevance:</a:t>
            </a:r>
            <a:r>
              <a:rPr lang="en" sz="1400">
                <a:solidFill>
                  <a:srgbClr val="000000"/>
                </a:solidFill>
                <a:latin typeface="Arial"/>
                <a:ea typeface="Arial"/>
                <a:cs typeface="Arial"/>
                <a:sym typeface="Arial"/>
              </a:rPr>
              <a:t> Keyword‑only scoring </a:t>
            </a:r>
            <a:r>
              <a:rPr b="1" lang="en" sz="1400">
                <a:solidFill>
                  <a:srgbClr val="000000"/>
                </a:solidFill>
                <a:latin typeface="Arial"/>
                <a:ea typeface="Arial"/>
                <a:cs typeface="Arial"/>
                <a:sym typeface="Arial"/>
              </a:rPr>
              <a:t>favors literals</a:t>
            </a:r>
            <a:r>
              <a:rPr lang="en" sz="1400">
                <a:solidFill>
                  <a:srgbClr val="000000"/>
                </a:solidFill>
                <a:latin typeface="Arial"/>
                <a:ea typeface="Arial"/>
                <a:cs typeface="Arial"/>
                <a:sym typeface="Arial"/>
              </a:rPr>
              <a:t>; we therefore add </a:t>
            </a:r>
            <a:r>
              <a:rPr b="1" lang="en" sz="1400">
                <a:solidFill>
                  <a:srgbClr val="000000"/>
                </a:solidFill>
                <a:latin typeface="Arial"/>
                <a:ea typeface="Arial"/>
                <a:cs typeface="Arial"/>
                <a:sym typeface="Arial"/>
              </a:rPr>
              <a:t>synonym‑aware (phrase)</a:t>
            </a:r>
            <a:r>
              <a:rPr lang="en" sz="1400">
                <a:solidFill>
                  <a:srgbClr val="000000"/>
                </a:solidFill>
                <a:latin typeface="Arial"/>
                <a:ea typeface="Arial"/>
                <a:cs typeface="Arial"/>
                <a:sym typeface="Arial"/>
              </a:rPr>
              <a:t> scoring to reduce bias.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Compute constraints:</a:t>
            </a:r>
            <a:r>
              <a:rPr lang="en" sz="1400">
                <a:solidFill>
                  <a:srgbClr val="000000"/>
                </a:solidFill>
                <a:latin typeface="Arial"/>
                <a:ea typeface="Arial"/>
                <a:cs typeface="Arial"/>
                <a:sym typeface="Arial"/>
              </a:rPr>
              <a:t> We used </a:t>
            </a:r>
            <a:r>
              <a:rPr b="1" lang="en" sz="1400">
                <a:solidFill>
                  <a:srgbClr val="000000"/>
                </a:solidFill>
                <a:latin typeface="Arial"/>
                <a:ea typeface="Arial"/>
                <a:cs typeface="Arial"/>
                <a:sym typeface="Arial"/>
              </a:rPr>
              <a:t>TF‑IDF+Linear SVM</a:t>
            </a:r>
            <a:r>
              <a:rPr lang="en" sz="1400">
                <a:solidFill>
                  <a:srgbClr val="000000"/>
                </a:solidFill>
                <a:latin typeface="Arial"/>
                <a:ea typeface="Arial"/>
                <a:cs typeface="Arial"/>
                <a:sym typeface="Arial"/>
              </a:rPr>
              <a:t> for speed/scale; deep baselines deferred to CP‑2.</a:t>
            </a:r>
            <a:endParaRPr sz="140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type="title"/>
          </p:nvPr>
        </p:nvSpPr>
        <p:spPr>
          <a:xfrm>
            <a:off x="727650" y="580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Issues &amp; Next steps (CP-2)</a:t>
            </a:r>
            <a:endParaRPr>
              <a:solidFill>
                <a:schemeClr val="dk1"/>
              </a:solidFill>
            </a:endParaRPr>
          </a:p>
          <a:p>
            <a:pPr indent="0" lvl="0" marL="0" rtl="0" algn="l">
              <a:spcBef>
                <a:spcPts val="0"/>
              </a:spcBef>
              <a:spcAft>
                <a:spcPts val="0"/>
              </a:spcAft>
              <a:buNone/>
            </a:pPr>
            <a:r>
              <a:t/>
            </a:r>
            <a:endParaRPr/>
          </a:p>
        </p:txBody>
      </p:sp>
      <p:sp>
        <p:nvSpPr>
          <p:cNvPr id="282" name="Google Shape;282;p42"/>
          <p:cNvSpPr txBox="1"/>
          <p:nvPr>
            <p:ph idx="1" type="body"/>
          </p:nvPr>
        </p:nvSpPr>
        <p:spPr>
          <a:xfrm>
            <a:off x="279750" y="1333525"/>
            <a:ext cx="8584500" cy="34290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1400">
                <a:solidFill>
                  <a:srgbClr val="000000"/>
                </a:solidFill>
                <a:latin typeface="Arial"/>
                <a:ea typeface="Arial"/>
                <a:cs typeface="Arial"/>
                <a:sym typeface="Arial"/>
              </a:rPr>
              <a:t>Issues (today):</a:t>
            </a:r>
            <a:endParaRPr b="1" sz="1400">
              <a:solidFill>
                <a:srgbClr val="000000"/>
              </a:solidFill>
              <a:latin typeface="Arial"/>
              <a:ea typeface="Arial"/>
              <a:cs typeface="Arial"/>
              <a:sym typeface="Arial"/>
            </a:endParaRPr>
          </a:p>
          <a:p>
            <a:pPr indent="-317500" lvl="0" marL="457200" rtl="0" algn="l">
              <a:lnSpc>
                <a:spcPct val="100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Kaggle polarity subset has </a:t>
            </a:r>
            <a:r>
              <a:rPr b="1" lang="en" sz="1400">
                <a:solidFill>
                  <a:srgbClr val="000000"/>
                </a:solidFill>
                <a:latin typeface="Arial"/>
                <a:ea typeface="Arial"/>
                <a:cs typeface="Arial"/>
                <a:sym typeface="Arial"/>
              </a:rPr>
              <a:t>no product IDs</a:t>
            </a:r>
            <a:r>
              <a:rPr lang="en" sz="1400">
                <a:solidFill>
                  <a:srgbClr val="000000"/>
                </a:solidFill>
                <a:latin typeface="Arial"/>
                <a:ea typeface="Arial"/>
                <a:cs typeface="Arial"/>
                <a:sym typeface="Arial"/>
              </a:rPr>
              <a:t> → only </a:t>
            </a:r>
            <a:r>
              <a:rPr b="1" lang="en" sz="1400">
                <a:solidFill>
                  <a:srgbClr val="000000"/>
                </a:solidFill>
                <a:latin typeface="Arial"/>
                <a:ea typeface="Arial"/>
                <a:cs typeface="Arial"/>
                <a:sym typeface="Arial"/>
              </a:rPr>
              <a:t>topic‑level</a:t>
            </a:r>
            <a:r>
              <a:rPr lang="en" sz="1400">
                <a:solidFill>
                  <a:srgbClr val="000000"/>
                </a:solidFill>
                <a:latin typeface="Arial"/>
                <a:ea typeface="Arial"/>
                <a:cs typeface="Arial"/>
                <a:sym typeface="Arial"/>
              </a:rPr>
              <a:t> RAG.</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Keyword‑only proxy is </a:t>
            </a:r>
            <a:r>
              <a:rPr b="1" lang="en" sz="1400">
                <a:solidFill>
                  <a:srgbClr val="000000"/>
                </a:solidFill>
                <a:latin typeface="Arial"/>
                <a:ea typeface="Arial"/>
                <a:cs typeface="Arial"/>
                <a:sym typeface="Arial"/>
              </a:rPr>
              <a:t>too strict</a:t>
            </a:r>
            <a:r>
              <a:rPr lang="en" sz="1400">
                <a:solidFill>
                  <a:srgbClr val="000000"/>
                </a:solidFill>
                <a:latin typeface="Arial"/>
                <a:ea typeface="Arial"/>
                <a:cs typeface="Arial"/>
                <a:sym typeface="Arial"/>
              </a:rPr>
              <a:t>; synonym coverage </a:t>
            </a:r>
            <a:r>
              <a:rPr b="1" lang="en" sz="1400">
                <a:solidFill>
                  <a:srgbClr val="000000"/>
                </a:solidFill>
                <a:latin typeface="Arial"/>
                <a:ea typeface="Arial"/>
                <a:cs typeface="Arial"/>
                <a:sym typeface="Arial"/>
              </a:rPr>
              <a:t>incomplete</a:t>
            </a:r>
            <a:r>
              <a:rPr lang="en" sz="1400">
                <a:solidFill>
                  <a:srgbClr val="000000"/>
                </a:solidFill>
                <a:latin typeface="Arial"/>
                <a:ea typeface="Arial"/>
                <a:cs typeface="Arial"/>
                <a:sym typeface="Arial"/>
              </a:rPr>
              <a:t> for some queries.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Compute constraints limit features/models at full scale.</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b="1" lang="en" sz="1400">
                <a:solidFill>
                  <a:srgbClr val="000000"/>
                </a:solidFill>
                <a:latin typeface="Arial"/>
                <a:ea typeface="Arial"/>
                <a:cs typeface="Arial"/>
                <a:sym typeface="Arial"/>
              </a:rPr>
              <a:t>Plan (from pitch + CP‑2 focus):</a:t>
            </a:r>
            <a:endParaRPr b="1" sz="1400">
              <a:solidFill>
                <a:srgbClr val="000000"/>
              </a:solidFill>
              <a:latin typeface="Arial"/>
              <a:ea typeface="Arial"/>
              <a:cs typeface="Arial"/>
              <a:sym typeface="Arial"/>
            </a:endParaRPr>
          </a:p>
          <a:p>
            <a:pPr indent="-317500" lvl="0" marL="457200" rtl="0" algn="l">
              <a:lnSpc>
                <a:spcPct val="100000"/>
              </a:lnSpc>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Dense retrieval</a:t>
            </a:r>
            <a:r>
              <a:rPr lang="en" sz="1400">
                <a:solidFill>
                  <a:srgbClr val="000000"/>
                </a:solidFill>
                <a:latin typeface="Arial"/>
                <a:ea typeface="Arial"/>
                <a:cs typeface="Arial"/>
                <a:sym typeface="Arial"/>
              </a:rPr>
              <a:t> (e.g., SBERT) + </a:t>
            </a:r>
            <a:r>
              <a:rPr b="1" lang="en" sz="1400">
                <a:solidFill>
                  <a:srgbClr val="000000"/>
                </a:solidFill>
                <a:latin typeface="Arial"/>
                <a:ea typeface="Arial"/>
                <a:cs typeface="Arial"/>
                <a:sym typeface="Arial"/>
              </a:rPr>
              <a:t>query expansion</a:t>
            </a:r>
            <a:r>
              <a:rPr lang="en" sz="1400">
                <a:solidFill>
                  <a:srgbClr val="000000"/>
                </a:solidFill>
                <a:latin typeface="Arial"/>
                <a:ea typeface="Arial"/>
                <a:cs typeface="Arial"/>
                <a:sym typeface="Arial"/>
              </a:rPr>
              <a:t>; refine </a:t>
            </a:r>
            <a:r>
              <a:rPr b="1" lang="en" sz="1400">
                <a:solidFill>
                  <a:srgbClr val="000000"/>
                </a:solidFill>
                <a:latin typeface="Arial"/>
                <a:ea typeface="Arial"/>
                <a:cs typeface="Arial"/>
                <a:sym typeface="Arial"/>
              </a:rPr>
              <a:t>synonym/phrase dictionaries</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Abstractive summaries</a:t>
            </a:r>
            <a:r>
              <a:rPr lang="en" sz="1400">
                <a:solidFill>
                  <a:srgbClr val="000000"/>
                </a:solidFill>
                <a:latin typeface="Arial"/>
                <a:ea typeface="Arial"/>
                <a:cs typeface="Arial"/>
                <a:sym typeface="Arial"/>
              </a:rPr>
              <a:t> with </a:t>
            </a:r>
            <a:r>
              <a:rPr b="1" lang="en" sz="1400">
                <a:solidFill>
                  <a:srgbClr val="000000"/>
                </a:solidFill>
                <a:latin typeface="Arial"/>
                <a:ea typeface="Arial"/>
                <a:cs typeface="Arial"/>
                <a:sym typeface="Arial"/>
              </a:rPr>
              <a:t>ROUGE</a:t>
            </a:r>
            <a:r>
              <a:rPr lang="en" sz="1400">
                <a:solidFill>
                  <a:srgbClr val="000000"/>
                </a:solidFill>
                <a:latin typeface="Arial"/>
                <a:ea typeface="Arial"/>
                <a:cs typeface="Arial"/>
                <a:sym typeface="Arial"/>
              </a:rPr>
              <a:t>; keep </a:t>
            </a:r>
            <a:r>
              <a:rPr b="1" lang="en" sz="1400">
                <a:solidFill>
                  <a:srgbClr val="000000"/>
                </a:solidFill>
                <a:latin typeface="Arial"/>
                <a:ea typeface="Arial"/>
                <a:cs typeface="Arial"/>
                <a:sym typeface="Arial"/>
              </a:rPr>
              <a:t>calibrated</a:t>
            </a:r>
            <a:r>
              <a:rPr lang="en" sz="1400">
                <a:solidFill>
                  <a:srgbClr val="000000"/>
                </a:solidFill>
                <a:latin typeface="Arial"/>
                <a:ea typeface="Arial"/>
                <a:cs typeface="Arial"/>
                <a:sym typeface="Arial"/>
              </a:rPr>
              <a:t> classifiers for decision thresholds.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Stretch: simple </a:t>
            </a:r>
            <a:r>
              <a:rPr b="1" lang="en" sz="1400">
                <a:solidFill>
                  <a:srgbClr val="000000"/>
                </a:solidFill>
                <a:latin typeface="Arial"/>
                <a:ea typeface="Arial"/>
                <a:cs typeface="Arial"/>
                <a:sym typeface="Arial"/>
              </a:rPr>
              <a:t>web app</a:t>
            </a:r>
            <a:r>
              <a:rPr lang="en" sz="1400">
                <a:solidFill>
                  <a:srgbClr val="000000"/>
                </a:solidFill>
                <a:latin typeface="Arial"/>
                <a:ea typeface="Arial"/>
                <a:cs typeface="Arial"/>
                <a:sym typeface="Arial"/>
              </a:rPr>
              <a:t> demo (per pitch “Future Plans”). </a:t>
            </a:r>
            <a:endParaRPr sz="14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3"/>
          <p:cNvSpPr txBox="1"/>
          <p:nvPr>
            <p:ph idx="1" type="body"/>
          </p:nvPr>
        </p:nvSpPr>
        <p:spPr>
          <a:xfrm>
            <a:off x="659625" y="2571750"/>
            <a:ext cx="7688700" cy="89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200">
                <a:solidFill>
                  <a:schemeClr val="dk1"/>
                </a:solidFill>
              </a:rPr>
              <a:t>Thank you, see you in CP2</a:t>
            </a:r>
            <a:endParaRPr sz="4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